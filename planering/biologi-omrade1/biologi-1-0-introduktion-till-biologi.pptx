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tart" id="{bfb7d0f8-a413-d30f-5f1b-b25ade7e589d}">
          <p14:sldIdLst>
            <p14:sldId id="256"/>
          </p14:sldIdLst>
        </p14:section>
        <p14:section name="Introduktion till biologi" id="{d5d8d0d8-6dd4-d818-f20e-83b110112874}">
          <p14:sldIdLst>
            <p14:sldId id="257"/>
            <p14:sldId id="258"/>
            <p14:sldId id="259"/>
            <p14:sldId id="260"/>
            <p14:sldId id="261"/>
            <p14:sldId id="262"/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Kort startlektion (ca 30–40 min) som följer avsnittet Start i grundtexten, före delområde 1.1. Anteckningarna innehåller handledning.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Börja med att fråga: vad tror ni att biologi handlar om? Samla svaren på tavlan.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Låt eleverna gissa vad bios och logos betyder innan ni visar svaret. Fråga efter andra ord med -logi.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Gränsfall för den som frågar: virus har arvsmassa men kan inte föröka sig utan en värdcell, så många forskare räknar dem inte som levande organismer.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Koppla till kapitlen längre fram: cellen, mångfald, ekologi och människokroppen.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Systematisk = noggrant och planerat. Det är temat i resten av kapitel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Vissa biologer arbetar ute i naturen, andra i laboratorier, på sjukhus eller vid en dator där de analyserar stora mängder data. Låt eleverna berätta vilken sorts biolog de själva skulle vilja vara.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Låt eleverna svara i par eller på whiteboard. Facit finns i lärarversionen av kapitlet.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">
    <p:bg>
      <p:bgPr>
        <a:solidFill>
          <a:schemeClr val="accen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VSNITT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NEHALL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Biologi · Kapitel 1 · Introduktion till biologi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731520" y="14630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chemeClr val="bg2"/>
                </a:solidFill>
              </a:rPr>
              <a:t>BIOLOGI · KAPITEL 1 · BIOLOGI SOM VETENSKAP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731520" y="2011680"/>
            <a:ext cx="10698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chemeClr val="bg1"/>
                </a:solidFill>
              </a:rPr>
              <a:t>Introduktion till biologi</a:t>
            </a:r>
            <a:endParaRPr lang="en-US" sz="54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393192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bg1"/>
                </a:solidFill>
              </a:rPr>
              <a:t>Start: vad är biologi och vad gör biologer?</a:t>
            </a:r>
            <a:endParaRPr lang="en-US" sz="24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566928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Startlektion före delområde 1.1 · Vad är biologi? · Organismer · Naturvetenskap · Biologer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Introduktion till biologi</a:t>
            </a:r>
            <a:endParaRPr lang="en-US" sz="44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731520" y="36576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bg2"/>
                </a:solidFill>
              </a:rPr>
              <a:t>Start: biologi, organismer och biologer</a:t>
            </a:r>
            <a:endParaRPr lang="en-US" sz="2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Vad betyder biologi?</a:t>
            </a:r>
            <a:endParaRPr lang="en-US" sz="3600" dirty="0"/>
          </a:p>
        </p:txBody>
      </p:sp>
      <p:sp>
        <p:nvSpPr>
          <p:cNvPr id="4" name="Kort 1"/>
          <p:cNvSpPr/>
          <p:nvPr/>
        </p:nvSpPr>
        <p:spPr>
          <a:xfrm>
            <a:off x="548640" y="1554480"/>
            <a:ext cx="3514344" cy="27432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Siffra 1"/>
          <p:cNvSpPr/>
          <p:nvPr/>
        </p:nvSpPr>
        <p:spPr>
          <a:xfrm>
            <a:off x="777240" y="178308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423160"/>
            <a:ext cx="30571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bios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017520"/>
            <a:ext cx="305714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Grekiska för liv.</a:t>
            </a:r>
            <a:endParaRPr lang="en-US" sz="1800" dirty="0"/>
          </a:p>
        </p:txBody>
      </p:sp>
      <p:sp>
        <p:nvSpPr>
          <p:cNvPr id="9" name="Kort 2"/>
          <p:cNvSpPr/>
          <p:nvPr/>
        </p:nvSpPr>
        <p:spPr>
          <a:xfrm>
            <a:off x="4337304" y="1554480"/>
            <a:ext cx="3514344" cy="27432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Siffra 2"/>
          <p:cNvSpPr/>
          <p:nvPr/>
        </p:nvSpPr>
        <p:spPr>
          <a:xfrm>
            <a:off x="4565904" y="178308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65904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4565904" y="2423160"/>
            <a:ext cx="30571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logos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4565904" y="3017520"/>
            <a:ext cx="305714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Grekiska för lära.</a:t>
            </a:r>
            <a:endParaRPr lang="en-US" sz="1800" dirty="0"/>
          </a:p>
        </p:txBody>
      </p:sp>
      <p:sp>
        <p:nvSpPr>
          <p:cNvPr id="14" name="Kort 3"/>
          <p:cNvSpPr/>
          <p:nvPr/>
        </p:nvSpPr>
        <p:spPr>
          <a:xfrm>
            <a:off x="8125968" y="1554480"/>
            <a:ext cx="3514344" cy="27432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Siffra 3"/>
          <p:cNvSpPr/>
          <p:nvPr/>
        </p:nvSpPr>
        <p:spPr>
          <a:xfrm>
            <a:off x="8354568" y="1783080"/>
            <a:ext cx="502920" cy="50292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354568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8354568" y="2423160"/>
            <a:ext cx="30571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Biologi</a:t>
            </a:r>
            <a:endParaRPr lang="en-US" sz="2200" dirty="0"/>
          </a:p>
        </p:txBody>
      </p:sp>
      <p:sp>
        <p:nvSpPr>
          <p:cNvPr id="18" name="Text 15"/>
          <p:cNvSpPr txBox="1"/>
          <p:nvPr/>
        </p:nvSpPr>
        <p:spPr>
          <a:xfrm>
            <a:off x="8354568" y="3017520"/>
            <a:ext cx="305714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Läran om livet och levande organismer.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548640" y="562356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Biologi handlar om allt som lever.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Allt levande kallas organismer</a:t>
            </a:r>
            <a:endParaRPr lang="en-US" sz="3600" dirty="0"/>
          </a:p>
        </p:txBody>
      </p:sp>
      <p:sp>
        <p:nvSpPr>
          <p:cNvPr id="4" name="Kort 1"/>
          <p:cNvSpPr/>
          <p:nvPr/>
        </p:nvSpPr>
        <p:spPr>
          <a:xfrm>
            <a:off x="548640" y="1554480"/>
            <a:ext cx="2567178" cy="2926080"/>
          </a:xfrm>
          <a:prstGeom prst="roundRect">
            <a:avLst>
              <a:gd name="adj" fmla="val 427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Siffra 1"/>
          <p:cNvSpPr/>
          <p:nvPr/>
        </p:nvSpPr>
        <p:spPr>
          <a:xfrm>
            <a:off x="777240" y="178308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423160"/>
            <a:ext cx="21099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Bakterier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017520"/>
            <a:ext cx="210997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Mycket små organismer.</a:t>
            </a:r>
            <a:endParaRPr lang="en-US" sz="1800" dirty="0"/>
          </a:p>
        </p:txBody>
      </p:sp>
      <p:sp>
        <p:nvSpPr>
          <p:cNvPr id="9" name="Kort 2"/>
          <p:cNvSpPr/>
          <p:nvPr/>
        </p:nvSpPr>
        <p:spPr>
          <a:xfrm>
            <a:off x="3390138" y="1554480"/>
            <a:ext cx="2567178" cy="2926080"/>
          </a:xfrm>
          <a:prstGeom prst="roundRect">
            <a:avLst>
              <a:gd name="adj" fmla="val 427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Siffra 2"/>
          <p:cNvSpPr/>
          <p:nvPr/>
        </p:nvSpPr>
        <p:spPr>
          <a:xfrm>
            <a:off x="3618738" y="178308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618738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3618738" y="2423160"/>
            <a:ext cx="21099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Svampar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3618738" y="3017520"/>
            <a:ext cx="210997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Till exempel kantareller och jäst.</a:t>
            </a:r>
            <a:endParaRPr lang="en-US" sz="1800" dirty="0"/>
          </a:p>
        </p:txBody>
      </p:sp>
      <p:sp>
        <p:nvSpPr>
          <p:cNvPr id="14" name="Kort 3"/>
          <p:cNvSpPr/>
          <p:nvPr/>
        </p:nvSpPr>
        <p:spPr>
          <a:xfrm>
            <a:off x="6231636" y="1554480"/>
            <a:ext cx="2567178" cy="2926080"/>
          </a:xfrm>
          <a:prstGeom prst="roundRect">
            <a:avLst>
              <a:gd name="adj" fmla="val 427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Siffra 3"/>
          <p:cNvSpPr/>
          <p:nvPr/>
        </p:nvSpPr>
        <p:spPr>
          <a:xfrm>
            <a:off x="6460236" y="1783080"/>
            <a:ext cx="502920" cy="50292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60236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6460236" y="2423160"/>
            <a:ext cx="21099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Växter</a:t>
            </a:r>
            <a:endParaRPr lang="en-US" sz="2200" dirty="0"/>
          </a:p>
        </p:txBody>
      </p:sp>
      <p:sp>
        <p:nvSpPr>
          <p:cNvPr id="18" name="Text 15"/>
          <p:cNvSpPr txBox="1"/>
          <p:nvPr/>
        </p:nvSpPr>
        <p:spPr>
          <a:xfrm>
            <a:off x="6460236" y="3017520"/>
            <a:ext cx="210997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Gräs, buskar och träd.</a:t>
            </a:r>
            <a:endParaRPr lang="en-US" sz="1800" dirty="0"/>
          </a:p>
        </p:txBody>
      </p:sp>
      <p:sp>
        <p:nvSpPr>
          <p:cNvPr id="19" name="Kort 4"/>
          <p:cNvSpPr/>
          <p:nvPr/>
        </p:nvSpPr>
        <p:spPr>
          <a:xfrm>
            <a:off x="9073134" y="1554480"/>
            <a:ext cx="2567178" cy="2926080"/>
          </a:xfrm>
          <a:prstGeom prst="roundRect">
            <a:avLst>
              <a:gd name="adj" fmla="val 427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Siffra 4"/>
          <p:cNvSpPr/>
          <p:nvPr/>
        </p:nvSpPr>
        <p:spPr>
          <a:xfrm>
            <a:off x="9301734" y="1783080"/>
            <a:ext cx="502920" cy="50292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301734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4</a:t>
            </a:r>
            <a:endParaRPr lang="en-US" sz="1800" dirty="0"/>
          </a:p>
        </p:txBody>
      </p:sp>
      <p:sp>
        <p:nvSpPr>
          <p:cNvPr id="22" name="Text 19"/>
          <p:cNvSpPr txBox="1"/>
          <p:nvPr/>
        </p:nvSpPr>
        <p:spPr>
          <a:xfrm>
            <a:off x="9301734" y="2423160"/>
            <a:ext cx="21099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Djur</a:t>
            </a:r>
            <a:endParaRPr lang="en-US" sz="2200" dirty="0"/>
          </a:p>
        </p:txBody>
      </p:sp>
      <p:sp>
        <p:nvSpPr>
          <p:cNvPr id="23" name="Text 20"/>
          <p:cNvSpPr txBox="1"/>
          <p:nvPr/>
        </p:nvSpPr>
        <p:spPr>
          <a:xfrm>
            <a:off x="9301734" y="3017520"/>
            <a:ext cx="210997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Även människor.</a:t>
            </a:r>
            <a:endParaRPr lang="en-US" sz="18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562356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En organism är en levande varelse.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Vad undersöker biologer?</a:t>
            </a:r>
            <a:endParaRPr lang="en-US" sz="3600" dirty="0"/>
          </a:p>
        </p:txBody>
      </p:sp>
      <p:sp>
        <p:nvSpPr>
          <p:cNvPr id="4" name="Steg 1"/>
          <p:cNvSpPr/>
          <p:nvPr/>
        </p:nvSpPr>
        <p:spPr>
          <a:xfrm>
            <a:off x="548640" y="1581912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48640" y="158191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1325880" y="1508760"/>
            <a:ext cx="103144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Hur organismer är uppbyggda.</a:t>
            </a:r>
            <a:endParaRPr lang="en-US" sz="2400" dirty="0"/>
          </a:p>
        </p:txBody>
      </p:sp>
      <p:sp>
        <p:nvSpPr>
          <p:cNvPr id="7" name="Steg 2"/>
          <p:cNvSpPr/>
          <p:nvPr/>
        </p:nvSpPr>
        <p:spPr>
          <a:xfrm>
            <a:off x="548640" y="2450592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24505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1325880" y="2377440"/>
            <a:ext cx="103144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Hur de fungerar.</a:t>
            </a:r>
            <a:endParaRPr lang="en-US" sz="2400" dirty="0"/>
          </a:p>
        </p:txBody>
      </p:sp>
      <p:sp>
        <p:nvSpPr>
          <p:cNvPr id="10" name="Steg 3"/>
          <p:cNvSpPr/>
          <p:nvPr/>
        </p:nvSpPr>
        <p:spPr>
          <a:xfrm>
            <a:off x="548640" y="3319272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48640" y="33192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325880" y="3246120"/>
            <a:ext cx="103144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Hur de samspelar med varandra.</a:t>
            </a:r>
            <a:endParaRPr lang="en-US" sz="2400" dirty="0"/>
          </a:p>
        </p:txBody>
      </p:sp>
      <p:sp>
        <p:nvSpPr>
          <p:cNvPr id="13" name="Steg 4"/>
          <p:cNvSpPr/>
          <p:nvPr/>
        </p:nvSpPr>
        <p:spPr>
          <a:xfrm>
            <a:off x="548640" y="4187952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48640" y="41879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4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1325880" y="4114800"/>
            <a:ext cx="103144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Hur livet har utvecklats.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Biologi är en naturvetenskap</a:t>
            </a:r>
            <a:endParaRPr lang="en-US" sz="3600" dirty="0"/>
          </a:p>
        </p:txBody>
      </p:sp>
      <p:sp>
        <p:nvSpPr>
          <p:cNvPr id="4" name="Kort 1"/>
          <p:cNvSpPr/>
          <p:nvPr/>
        </p:nvSpPr>
        <p:spPr>
          <a:xfrm>
            <a:off x="548640" y="1554480"/>
            <a:ext cx="3514344" cy="27432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Siffra 1"/>
          <p:cNvSpPr/>
          <p:nvPr/>
        </p:nvSpPr>
        <p:spPr>
          <a:xfrm>
            <a:off x="777240" y="178308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423160"/>
            <a:ext cx="30571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Biologi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017520"/>
            <a:ext cx="305714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Livet och organismerna.</a:t>
            </a:r>
            <a:endParaRPr lang="en-US" sz="1800" dirty="0"/>
          </a:p>
        </p:txBody>
      </p:sp>
      <p:sp>
        <p:nvSpPr>
          <p:cNvPr id="9" name="Kort 2"/>
          <p:cNvSpPr/>
          <p:nvPr/>
        </p:nvSpPr>
        <p:spPr>
          <a:xfrm>
            <a:off x="4337304" y="1554480"/>
            <a:ext cx="3514344" cy="27432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Siffra 2"/>
          <p:cNvSpPr/>
          <p:nvPr/>
        </p:nvSpPr>
        <p:spPr>
          <a:xfrm>
            <a:off x="4565904" y="178308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65904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4565904" y="2423160"/>
            <a:ext cx="30571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Kemi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4565904" y="3017520"/>
            <a:ext cx="305714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Ämnen och hur de reagerar.</a:t>
            </a:r>
            <a:endParaRPr lang="en-US" sz="1800" dirty="0"/>
          </a:p>
        </p:txBody>
      </p:sp>
      <p:sp>
        <p:nvSpPr>
          <p:cNvPr id="14" name="Kort 3"/>
          <p:cNvSpPr/>
          <p:nvPr/>
        </p:nvSpPr>
        <p:spPr>
          <a:xfrm>
            <a:off x="8125968" y="1554480"/>
            <a:ext cx="3514344" cy="27432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Siffra 3"/>
          <p:cNvSpPr/>
          <p:nvPr/>
        </p:nvSpPr>
        <p:spPr>
          <a:xfrm>
            <a:off x="8354568" y="1783080"/>
            <a:ext cx="502920" cy="50292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354568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8354568" y="2423160"/>
            <a:ext cx="30571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Fysik</a:t>
            </a:r>
            <a:endParaRPr lang="en-US" sz="2200" dirty="0"/>
          </a:p>
        </p:txBody>
      </p:sp>
      <p:sp>
        <p:nvSpPr>
          <p:cNvPr id="18" name="Text 15"/>
          <p:cNvSpPr txBox="1"/>
          <p:nvPr/>
        </p:nvSpPr>
        <p:spPr>
          <a:xfrm>
            <a:off x="8354568" y="3017520"/>
            <a:ext cx="305714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Krafter, energi och rörelse.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548640" y="562356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Gemensamt: systematiska undersökningar som andra kan kontrollera och upprepa.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Biologer arbetar på många sätt</a:t>
            </a:r>
            <a:endParaRPr lang="en-US" sz="36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554480"/>
            <a:ext cx="4416552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tx1"/>
                </a:solidFill>
              </a:rPr>
              <a:t>Zoolog: forskar om djur.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tx1"/>
                </a:solidFill>
              </a:rPr>
              <a:t>Botaniker: forskar om växter.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tx1"/>
                </a:solidFill>
              </a:rPr>
              <a:t>Mikrobiolog: forskar om bakterier och andra små organismer.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tx1"/>
                </a:solidFill>
              </a:rPr>
              <a:t>Marinbiolog: forskar om livet i havet.</a:t>
            </a:r>
            <a:endParaRPr lang="en-US" sz="2200" dirty="0"/>
          </a:p>
        </p:txBody>
      </p:sp>
      <p:pic>
        <p:nvPicPr>
          <p:cNvPr id="5" name="Image 0" descr="Biologer arbetar på många sät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22392" y="2871038"/>
            <a:ext cx="6217920" cy="1847444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Kolla dig själv: Start</a:t>
            </a:r>
            <a:endParaRPr lang="en-US" sz="3600" dirty="0"/>
          </a:p>
        </p:txBody>
      </p:sp>
      <p:sp>
        <p:nvSpPr>
          <p:cNvPr id="4" name="Kolla dig själv"/>
          <p:cNvSpPr/>
          <p:nvPr/>
        </p:nvSpPr>
        <p:spPr>
          <a:xfrm>
            <a:off x="548640" y="1554480"/>
            <a:ext cx="11091672" cy="4297680"/>
          </a:xfrm>
          <a:prstGeom prst="roundRect">
            <a:avLst>
              <a:gd name="adj" fmla="val 3191"/>
            </a:avLst>
          </a:prstGeom>
          <a:solidFill>
            <a:schemeClr val="bg2"/>
          </a:solidFill>
          <a:ln w="25400">
            <a:solidFill>
              <a:schemeClr val="accent3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914400" y="17373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accent1"/>
                </a:solidFill>
              </a:rPr>
              <a:t>KOLLA DIG SJÄLV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194560"/>
            <a:ext cx="103601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600" dirty="0">
                <a:solidFill>
                  <a:schemeClr val="tx1"/>
                </a:solidFill>
              </a:rPr>
              <a:t>Vad betyder ordet biologi?</a:t>
            </a:r>
            <a:endParaRPr lang="en-US" sz="26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600" dirty="0">
                <a:solidFill>
                  <a:schemeClr val="tx1"/>
                </a:solidFill>
              </a:rPr>
              <a:t>Vad menas med att en undersökning är systematisk?</a:t>
            </a:r>
            <a:endParaRPr lang="en-US" sz="26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600" dirty="0">
                <a:solidFill>
                  <a:schemeClr val="tx1"/>
                </a:solidFill>
              </a:rPr>
              <a:t>Välj två av biologerna. Ge ett exempel på en fråga som var och en kan undersöka.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iologi grön">
  <a:themeElements>
    <a:clrScheme name="Biologi grön">
      <a:dk1>
        <a:srgbClr val="1F2A24"/>
      </a:dk1>
      <a:lt1>
        <a:srgbClr val="FFFFFF"/>
      </a:lt1>
      <a:dk2>
        <a:srgbClr val="245040"/>
      </a:dk2>
      <a:lt2>
        <a:srgbClr val="EAF3EC"/>
      </a:lt2>
      <a:accent1>
        <a:srgbClr val="2F6B4F"/>
      </a:accent1>
      <a:accent2>
        <a:srgbClr val="E0782F"/>
      </a:accent2>
      <a:accent3>
        <a:srgbClr val="4F8A63"/>
      </a:accent3>
      <a:accent4>
        <a:srgbClr val="2B6A8A"/>
      </a:accent4>
      <a:accent5>
        <a:srgbClr val="A8651A"/>
      </a:accent5>
      <a:accent6>
        <a:srgbClr val="B3402F"/>
      </a:accent6>
      <a:hlink>
        <a:srgbClr val="2B6A8A"/>
      </a:hlink>
      <a:folHlink>
        <a:srgbClr val="6B625B"/>
      </a:folHlink>
    </a:clrScheme>
    <a:fontScheme name="Biologi grön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Introduktion till biologi</dc:title>
  <dc:subject>Biologi åk 7–9</dc:subject>
  <dc:creator>Pluggis</dc:creator>
  <cp:lastModifiedBy>Pluggis</cp:lastModifiedBy>
  <cp:revision>1</cp:revision>
  <dcterms:created xsi:type="dcterms:W3CDTF">2026-10-12T12:49:08Z</dcterms:created>
  <dcterms:modified xsi:type="dcterms:W3CDTF">2026-10-12T12:49:08Z</dcterms:modified>
</cp:coreProperties>
</file>