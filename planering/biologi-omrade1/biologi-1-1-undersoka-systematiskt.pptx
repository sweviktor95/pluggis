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da025d6b-360a-00e4-9f30-4a38ad01a873}">
          <p14:sldIdLst>
            <p14:sldId id="256"/>
          </p14:sldIdLst>
        </p14:section>
        <p14:section name="1.1.1 Från fråga till plan" id="{ee0f048c-be12-c50b-05de-146bd26d9a4e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1.1.2 Dokumentera" id="{78bb6a04-a91d-d713-4a9e-1cead7fd9dd8}">
          <p14:sldIdLst>
            <p14:sldId id="263"/>
            <p14:sldId id="264"/>
            <p14:sldId id="265"/>
            <p14:sldId id="266"/>
            <p14:sldId id="267"/>
          </p14:sldIdLst>
        </p14:section>
        <p14:section name="1.1.3 Värdera" id="{953a3836-ec6a-f4fa-20a8-226a865a3cb9}">
          <p14:sldIdLst>
            <p14:sldId id="268"/>
            <p14:sldId id="269"/>
            <p14:sldId id="270"/>
            <p14:sldId id="271"/>
          </p14:sldIdLst>
        </p14:section>
        <p14:section name="Labb 1.1 Reaktionstid" id="{fbb8e4b3-d7aa-601d-07a1-04c3cbd473cf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245040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245040"/>
                </a:solidFill>
                <a:latin typeface="+mn-lt"/>
              </a:rPr>
              <a:t>Krassens höjd (mm) över tid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Ljus</c:v>
                </c:pt>
              </c:strCache>
            </c:strRef>
          </c:tx>
          <c:spPr>
            <a:solidFill>
              <a:srgbClr val="4F8A63"/>
            </a:solidFill>
            <a:ln w="38100" cap="flat">
              <a:solidFill>
                <a:srgbClr val="4F8A6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4F8A63"/>
              </a:solidFill>
              <a:ln w="9525" cap="flat">
                <a:solidFill>
                  <a:srgbClr val="4F8A6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Dag 1</c:v>
                  </c:pt>
                  <c:pt idx="1">
                    <c:v>Dag 3</c:v>
                  </c:pt>
                  <c:pt idx="2">
                    <c:v>Dag 5</c:v>
                  </c:pt>
                  <c:pt idx="3">
                    <c:v>Dag 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15</c:v>
                </c:pt>
                <c:pt idx="2">
                  <c:v>28</c:v>
                </c:pt>
                <c:pt idx="3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Mörker</c:v>
                </c:pt>
              </c:strCache>
            </c:strRef>
          </c:tx>
          <c:spPr>
            <a:solidFill>
              <a:srgbClr val="E0782F"/>
            </a:solidFill>
            <a:ln w="38100" cap="flat">
              <a:solidFill>
                <a:srgbClr val="E078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0782F"/>
              </a:solidFill>
              <a:ln w="9525" cap="flat">
                <a:solidFill>
                  <a:srgbClr val="E078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Dag 1</c:v>
                  </c:pt>
                  <c:pt idx="1">
                    <c:v>Dag 3</c:v>
                  </c:pt>
                  <c:pt idx="2">
                    <c:v>Dag 5</c:v>
                  </c:pt>
                  <c:pt idx="3">
                    <c:v>Dag 7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25</c:v>
                </c:pt>
                <c:pt idx="2">
                  <c:v>42</c:v>
                </c:pt>
                <c:pt idx="3">
                  <c:v>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F2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r>
                  <a:rPr sz="1400" b="0" i="0" u="none" strike="noStrike">
                    <a:solidFill>
                      <a:srgbClr val="1F2A24"/>
                    </a:solidFill>
                    <a:latin typeface="Arial"/>
                  </a:rPr>
                  <a:t>Dag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9E3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r>
                  <a:rPr sz="1400" b="0" i="0" u="none" strike="noStrike">
                    <a:solidFill>
                      <a:srgbClr val="1F2A24"/>
                    </a:solidFill>
                    <a:latin typeface="Arial"/>
                  </a:rPr>
                  <a:t>Höjd (mm)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A2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F2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1, delområde 1.1. Några bilder per lektion. Anteckningarna innehåller handledning.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 50 min. Börja med att fråga: Vad är biologi? Vilka sorters biologer känner ni till?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eleverna omformulera egna åsiktsfrågor.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teori är en väl prövad förklaring med många belägg, till skillnad från en hypotes.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eleverna blandar ihop oberoende och beroende variabel. Hjälp: det jag ändrar / det jag mäter.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varför ska man inte äta i labbet ens när det är ofarligt?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 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Exempelvärden. Räkna medelvärde av upprepade mätningar, t.ex. 12, 14 och 13 mm.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Visa att samma data kan visas som linje (över tid) eller staplar (dag 7). Diskutera vilket som passar frågan.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Rapporten ska vara så tydlig att någon annan kan göra om försöket.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 50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Skillnaden mellan slump och systematiskt fel är en C-nivå-poäng.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Ellas slutsats: krasse i mörker blir högre men svagare. Hon kan inte säga att alla växter gör så.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linjal 30 cm, penna, papper. Förväntat: ca 15–25 cm, alltså 0,17–0,23 s. Redovisa klassens värden, inte personliga.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Vanliga fel: eleven ser kompisens hand, linjalen hålls sned, noll ligger inte vid fingrarna.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Bonuslabb finns i lärarversionen av kapitlet: Hjälper musik minnet?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Biologi · Kapitel 1 · Delområde 1.1 Undersöka systematiskt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BIOLOGI · KAPITEL 1 · BIOLOGI SOM VETENSKAP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Undersöka systematiskt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1.1: fråga, plan, tabell, diagram och slutsats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Lektion 1.1.1 Från fråga till plan · 1.1.2 Dokumentera · 1.1.3 Värdera · Labb 1.1 Reaktionstid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1.1.1 Från fråga till plan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Lektion 1: undersökningsbar fråga, hypotes och rättvist försök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Gör frågan undersökningsbar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606247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Går inte att undersöka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Går att undersöka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Är solrosor fina?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Hur mycket växer en solros på en vecka?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Är musik bra när man pluggar?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Kommer man ihåg fler ord efter musik än efter tystnad?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Är krasse bra?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Växer krasse högre i ljus än i mörker?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En undersökningsbar fråga kan besvaras med mätning eller observation.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Forskning är en cykel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Fråga: vad undrar jag?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Hypotes: ett prövbart svar med en motivering.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Testa: gör en undersökning.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Slutsats: vad lärde jag mig? Ofta kommer en ny fråga.</a:t>
            </a:r>
            <a:endParaRPr lang="en-US" sz="2400" dirty="0"/>
          </a:p>
        </p:txBody>
      </p:sp>
      <p:pic>
        <p:nvPicPr>
          <p:cNvPr id="5" name="Image 0" descr="Forskning är en cyk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324851"/>
            <a:ext cx="5852160" cy="29398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Ett rättvist försök: krasse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33095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Oberoende variabel: ljus eller mörker (det vi ändrar).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Beroende variabel: höjd i mm (det vi mäter).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Kontrollerade variabler: jord, vatten, temperatur, antal frön, tid.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Kontrollgrupp: krassen i ljus.</a:t>
            </a:r>
            <a:endParaRPr lang="en-US" sz="2200" dirty="0"/>
          </a:p>
        </p:txBody>
      </p:sp>
      <p:pic>
        <p:nvPicPr>
          <p:cNvPr id="5" name="Image 0" descr="Ett rättvist försök: kras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2712621"/>
            <a:ext cx="5303520" cy="216427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Säkerhet i labbet</a:t>
            </a:r>
            <a:endParaRPr lang="en-US" sz="3600" dirty="0"/>
          </a:p>
        </p:txBody>
      </p:sp>
      <p:sp>
        <p:nvSpPr>
          <p:cNvPr id="4" name="Steg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087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Läs hela instruktionen först.</a:t>
            </a:r>
            <a:endParaRPr lang="en-US" sz="2400" dirty="0"/>
          </a:p>
        </p:txBody>
      </p:sp>
      <p:sp>
        <p:nvSpPr>
          <p:cNvPr id="7" name="Steg 2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774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Skyddsglasögon och förkläde när läraren säger det. Sätt upp långt hår.</a:t>
            </a:r>
            <a:endParaRPr lang="en-US" sz="2400" dirty="0"/>
          </a:p>
        </p:txBody>
      </p:sp>
      <p:sp>
        <p:nvSpPr>
          <p:cNvPr id="10" name="Steg 3"/>
          <p:cNvSpPr/>
          <p:nvPr/>
        </p:nvSpPr>
        <p:spPr>
          <a:xfrm>
            <a:off x="548640" y="33192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4612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Ät, drick och smaka aldrig i labbet.</a:t>
            </a:r>
            <a:endParaRPr lang="en-US" sz="2400" dirty="0"/>
          </a:p>
        </p:txBody>
      </p:sp>
      <p:sp>
        <p:nvSpPr>
          <p:cNvPr id="13" name="Steg 4"/>
          <p:cNvSpPr/>
          <p:nvPr/>
        </p:nvSpPr>
        <p:spPr>
          <a:xfrm>
            <a:off x="548640" y="4187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148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Säg till direkt om något går sönder eller om du skadar dig.</a:t>
            </a:r>
            <a:endParaRPr lang="en-US" sz="2400" dirty="0"/>
          </a:p>
        </p:txBody>
      </p:sp>
      <p:sp>
        <p:nvSpPr>
          <p:cNvPr id="16" name="Steg 5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83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Städa och tvätta händerna när du är klar.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själv: 1.1.1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Gör frågan ”Är hundar snälla?” undersökningsbar.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skillnaden mellan oberoende och beroende variabel?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behövs en kontrollgrupp?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får man bara ändra en variabel åt gången?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1.1.2 Dokumentera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Lektion 2: tabell, diagram och rapport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Skriv värdena i en tabell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336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Dag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Ljus (mm)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Mörker (mm)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Rubriker och enheter. Medelvärde = summan delat med antalet värden.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Välj diagram: stapel eller linje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Stapeldiagram: jämför grupper.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Linjediagram: förändring över tid, tid på x-axeln.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Rubrik, namn och enhet på axlarna.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Läs av: högst stapel, skillnad, enhet.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035040" y="1463040"/>
          <a:ext cx="5577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Så skriver du en rapport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Syfte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Vad vill du ta reda på?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3390138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3618738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87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18738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Hypotes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618738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Vad tror du, och varför?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6231636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6460236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6023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60236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Material och metod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460236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Vad använde du, hur gjorde du?</a:t>
            </a:r>
            <a:endParaRPr lang="en-US" sz="1800" dirty="0"/>
          </a:p>
        </p:txBody>
      </p:sp>
      <p:sp>
        <p:nvSpPr>
          <p:cNvPr id="19" name="Kort 4"/>
          <p:cNvSpPr/>
          <p:nvPr/>
        </p:nvSpPr>
        <p:spPr>
          <a:xfrm>
            <a:off x="9073134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iffra 4"/>
          <p:cNvSpPr/>
          <p:nvPr/>
        </p:nvSpPr>
        <p:spPr>
          <a:xfrm>
            <a:off x="9301734" y="17830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0173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301734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Resultat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301734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Tabell och diagram.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Sist: diskussion och slutsats. Vad betyder resultatet? Felkällor?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själv: 1.1.2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ska en tabell innehålla?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När passar stapeldiagram, och när linjediagram?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Räkna medelvärdet av 12, 14 och 13 mm.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Vilka delar ingår i en rapport?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1.1.3 Värdera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Lektion 3: felkällor, tillförlitlighet och slutsats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Slump och systematiskt fel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846320"/>
                <a:gridCol w="3685032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Typ av felkälla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Exempel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Vad hjälper?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Slump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En fläkt blåser på en av lådorna.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Fler mätningar och upprepning.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Systematiskt fel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Den mörka lådan är varmare. Man mäter alltid från fel ställe.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Bättre planering. Håll alla andra variabler lika.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Upprepning minskar slumpens betydelse, men räddar inte ett systematiskt fel.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Kan jag lita på resultatet?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Tillförlitlighet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Skulle vi få samma resultat om vi gjorde om försöket?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Giltighet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Mätte vi det vi ville veta? Är höjd ett bra mått på att krassen mår bra?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Slutsats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Svara på frågan och stämma med resultatet. Skriv också vad du inte vet.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Ett resultat som inte stämmer med hypotesen är inget misslyckande.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själv: 1.1.3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Skillnaden mellan slump och systematiskt fel? Ge ett exempel på vardera.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minskar slumpen när man upprepar ett försök?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menas med giltighet?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ska en slutsats också säga vad man inte vet?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1.1 Reaktionstid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Ca 45 min: planera och genomför ett rättvist försök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Hur snabb är din reaktion?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624535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Din kompis släpper linjalen utan förvarning.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Du fångar den. Läs av fallsträckan i cm.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Minst fem försök per hand. Samma linjal, samma startläge.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Tabell, medelvärde och stapeldiagram. Skriv slutsats och felkällor.</a:t>
            </a:r>
            <a:endParaRPr lang="en-US" sz="2400" dirty="0"/>
          </a:p>
        </p:txBody>
      </p:sp>
      <p:pic>
        <p:nvPicPr>
          <p:cNvPr id="5" name="Image 0" descr="Hur snabb är din reaktion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2156770"/>
            <a:ext cx="4389120" cy="327597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Från fallsträcka till reaktionstid</a:t>
            </a:r>
            <a:endParaRPr lang="en-US" sz="3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584525"/>
                <a:gridCol w="1584525"/>
                <a:gridCol w="1584525"/>
                <a:gridCol w="1584525"/>
                <a:gridCol w="1584525"/>
                <a:gridCol w="1584525"/>
                <a:gridCol w="158452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Fallsträcka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5 cm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10 cm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15 cm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20 cm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25 cm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30 cm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Reaktionstid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0,10 s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0,14 s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0,17 s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0,20 s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0,23 s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0,25 s</a:t>
                      </a:r>
                      <a:endParaRPr lang="en-US" sz="18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33832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Beräknat med t = √(2·s/g). Diskutera: kan övning vara en felkälla? Hur förbättrar vi försöket?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logi grön">
  <a:themeElements>
    <a:clrScheme name="Biologi grön">
      <a:dk1>
        <a:srgbClr val="1F2A24"/>
      </a:dk1>
      <a:lt1>
        <a:srgbClr val="FFFFFF"/>
      </a:lt1>
      <a:dk2>
        <a:srgbClr val="245040"/>
      </a:dk2>
      <a:lt2>
        <a:srgbClr val="EAF3EC"/>
      </a:lt2>
      <a:accent1>
        <a:srgbClr val="2F6B4F"/>
      </a:accent1>
      <a:accent2>
        <a:srgbClr val="E0782F"/>
      </a:accent2>
      <a:accent3>
        <a:srgbClr val="4F8A63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Biologi grö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Undersöka systematiskt</dc:title>
  <dc:subject>Biologi åk 7–9</dc:subject>
  <dc:creator>Pluggis</dc:creator>
  <cp:lastModifiedBy>Pluggis</cp:lastModifiedBy>
  <cp:revision>1</cp:revision>
  <dcterms:created xsi:type="dcterms:W3CDTF">2026-10-12T12:48:55Z</dcterms:created>
  <dcterms:modified xsi:type="dcterms:W3CDTF">2026-10-12T12:48:55Z</dcterms:modified>
</cp:coreProperties>
</file>