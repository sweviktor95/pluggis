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581ebf1d-df38-e0d9-489b-b503e17848b7}">
          <p14:sldIdLst>
            <p14:sldId id="256"/>
          </p14:sldIdLst>
        </p14:section>
        <p14:section name="Från fråga till plan" id="{36e2a145-3934-418d-89a3-ac1d49389062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Dokumentera" id="{b75b980f-a7dc-1fff-d95a-a21158b95a54}">
          <p14:sldIdLst>
            <p14:sldId id="263"/>
            <p14:sldId id="264"/>
            <p14:sldId id="265"/>
            <p14:sldId id="266"/>
            <p14:sldId id="267"/>
          </p14:sldIdLst>
        </p14:section>
        <p14:section name="Värdera" id="{6c3ffb0e-8647-7293-ae3d-ba3f763d5a28}">
          <p14:sldIdLst>
            <p14:sldId id="268"/>
            <p14:sldId id="269"/>
            <p14:sldId id="270"/>
            <p14:sldId id="271"/>
          </p14:sldIdLst>
        </p14:section>
        <p14:section name="Labb 1.1 Reaktionstid" id="{f56c97b4-201e-74a3-f588-ceb601bb4c58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800" b="0" i="0" u="none" strike="noStrike">
                <a:solidFill>
                  <a:srgbClr val="245040"/>
                </a:solidFill>
                <a:latin typeface="+mn-lt"/>
              </a:defRPr>
            </a:pPr>
            <a:r>
              <a:rPr sz="1800" b="0" i="0" u="none" strike="noStrike">
                <a:solidFill>
                  <a:srgbClr val="245040"/>
                </a:solidFill>
                <a:latin typeface="+mn-lt"/>
              </a:rPr>
              <a:t>Krassens höjd (mm) över tid, påhittade värden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Ljus</c:v>
                </c:pt>
              </c:strCache>
            </c:strRef>
          </c:tx>
          <c:spPr>
            <a:solidFill>
              <a:srgbClr val="4F8A63"/>
            </a:solidFill>
            <a:ln w="38100" cap="flat">
              <a:solidFill>
                <a:srgbClr val="4F8A6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4F8A63"/>
              </a:solidFill>
              <a:ln w="9525" cap="flat">
                <a:solidFill>
                  <a:srgbClr val="4F8A6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28</c:v>
                </c:pt>
                <c:pt idx="3">
                  <c:v>40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Mörker</c:v>
                </c:pt>
              </c:strCache>
            </c:strRef>
          </c:tx>
          <c:spPr>
            <a:solidFill>
              <a:srgbClr val="E0782F"/>
            </a:solidFill>
            <a:ln w="38100" cap="flat">
              <a:solidFill>
                <a:srgbClr val="E0782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A24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9"/>
            <c:spPr>
              <a:solidFill>
                <a:srgbClr val="E0782F"/>
              </a:solidFill>
              <a:ln w="9525" cap="flat">
                <a:solidFill>
                  <a:srgbClr val="E0782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Dag 1</c:v>
                  </c:pt>
                  <c:pt idx="1">
                    <c:v>Dag 3</c:v>
                  </c:pt>
                  <c:pt idx="2">
                    <c:v>Dag 5</c:v>
                  </c:pt>
                  <c:pt idx="3">
                    <c:v>Dag 7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</c:v>
                </c:pt>
                <c:pt idx="1">
                  <c:v>25</c:v>
                </c:pt>
                <c:pt idx="2">
                  <c:v>42</c:v>
                </c:pt>
                <c:pt idx="3">
                  <c:v>60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A24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Dag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E3D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400" b="0" i="0" u="none" strike="noStrike">
                    <a:solidFill>
                      <a:srgbClr val="1F2A24"/>
                    </a:solidFill>
                    <a:latin typeface="Arial"/>
                  </a:defRPr>
                </a:pPr>
                <a:r>
                  <a:rPr sz="1400" b="0" i="0" u="none" strike="noStrike">
                    <a:solidFill>
                      <a:srgbClr val="1F2A24"/>
                    </a:solidFill>
                    <a:latin typeface="Arial"/>
                  </a:rPr>
                  <a:t>Höjd (mm)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A24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400">
              <a:solidFill>
                <a:srgbClr val="1F2A24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Presentationen följer grundtexten i kapitel 1, delområde 1.1. Några bilder per lektion. Anteckningarna innehåller handledning.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 Börja med att fråga: Vad är biologi? Vilka sorters biologer känner ni till?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eleverna omformulera egna åsiktsfrågor.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 teori är en väl prövad förklaring med många belägg, till skillnad från en hypotes.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Vanligt fel: eleverna blandar ihop oberoende och beroende variabel. Hjälp: det jag ändrar / det jag mäter.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Fråga: varför ska man inte äta i labbet ens när det är ofarligt?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Exempelvärden. Räkna medelvärde av upprepade mätningar, t.ex. 12, 14 och 13 mm.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Visa att samma data kan visas som linje (över tid) eller staplar (dag 7). Diskutera vilket som passar frågan.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Rapporten ska vara så tydlig att någon annan kan göra om försöket.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 50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Skillnaden mellan slump och systematiskt fel är en C-nivå-poäng.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Ellas slutsats: krasse i mörker blir högre men svagare. Hon kan inte säga att alla växter gör så.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Låt eleverna svara i par eller på whiteboard. Facit finns i lärarversionen av kapitlet.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Material: linjal 30 cm, penna, papper. Förväntat: ca 15–25 cm, alltså 0,17–0,23 s. Redovisa klassens värden, inte personliga.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Vanliga fel: eleven ser kompisens hand, linjalen hålls sned, noll ligger inte vid fingrarna.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Bonuslabb finns i lärarversionen av kapitlet: Hjälper musik minnet?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VSNIT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NEHAL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 txBox="1"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Biologi · Kapitel 1 · Delområde 1.1 Undersöka systematiskt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chemeClr val="bg2"/>
                </a:solidFill>
              </a:rPr>
              <a:t>BIOLOGI · KAPITEL 1 · BIOLOGI SOM VETENSKAP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011680"/>
            <a:ext cx="10698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Undersöka systematiskt</a:t>
            </a:r>
            <a:endParaRPr lang="en-US" sz="5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39319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chemeClr val="bg1"/>
                </a:solidFill>
              </a:rPr>
              <a:t>Delområde 1.1: fråga, plan, tabell, diagram och slutsats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6692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Lektion Från fråga till plan · Dokumentera · Värdera · Labb 1.1 Reaktionstid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Från fråga till plan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1: undersökningsbar fråga, hypotes och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Gör frågan undersökningsbar</a:t>
            </a:r>
            <a:endParaRPr lang="en-US" sz="3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62472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inte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Går att undersöka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solrosor fina?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Hur mycket växer en solros på en vecka?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musik bra när man pluggar?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Kommer man ihåg fler ord efter musik än efter tystnad?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Är krasse bra?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Växer krasse högre i ljus än i mörker?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En undersökningsbar fråga kan besvaras med mätning eller observation.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Forskning är en cykel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478231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Fråga: vad undrar jag?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Hypotes: ett prövbart svar med en motivering.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Testa: gör en undersökning.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Slutsats: vad lärde jag mig? Ofta kommer en ny fråga.</a:t>
            </a:r>
            <a:endParaRPr lang="en-US" sz="2400" dirty="0"/>
          </a:p>
        </p:txBody>
      </p:sp>
      <p:pic>
        <p:nvPicPr>
          <p:cNvPr id="5" name="Image 0" descr="Forskning är en cyk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88152" y="2324851"/>
            <a:ext cx="5852160" cy="293981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Ett rättvist försök: krasse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3309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Oberoende variabel: ljus eller mörker (det vi ändrar).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Beroende variabel: höjd i mm (det vi mäter).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Kontrollerade variabler: jord, vatten, temperatur, antal frön, tid.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Kontrollgrupp: krassen i ljus.</a:t>
            </a:r>
            <a:endParaRPr lang="en-US" sz="2200" dirty="0"/>
          </a:p>
        </p:txBody>
      </p:sp>
      <p:pic>
        <p:nvPicPr>
          <p:cNvPr id="5" name="Image 0" descr="Ett rättvist försök: kras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36792" y="2712621"/>
            <a:ext cx="5303520" cy="21642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Säkerhet i labbet</a:t>
            </a:r>
            <a:endParaRPr lang="en-US" sz="3600" dirty="0"/>
          </a:p>
        </p:txBody>
      </p:sp>
      <p:sp>
        <p:nvSpPr>
          <p:cNvPr id="4" name="Steg 1"/>
          <p:cNvSpPr/>
          <p:nvPr/>
        </p:nvSpPr>
        <p:spPr>
          <a:xfrm>
            <a:off x="548640" y="158191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58191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1325880" y="150876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Läs hela instruktionen först.</a:t>
            </a:r>
            <a:endParaRPr lang="en-US" sz="2400" dirty="0"/>
          </a:p>
        </p:txBody>
      </p:sp>
      <p:sp>
        <p:nvSpPr>
          <p:cNvPr id="7" name="Steg 2"/>
          <p:cNvSpPr/>
          <p:nvPr/>
        </p:nvSpPr>
        <p:spPr>
          <a:xfrm>
            <a:off x="548640" y="245059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4505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325880" y="237744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Skyddsglasögon och förkläde när läraren säger det. Sätt upp långt hår.</a:t>
            </a:r>
            <a:endParaRPr lang="en-US" sz="2400" dirty="0"/>
          </a:p>
        </p:txBody>
      </p:sp>
      <p:sp>
        <p:nvSpPr>
          <p:cNvPr id="10" name="Steg 3"/>
          <p:cNvSpPr/>
          <p:nvPr/>
        </p:nvSpPr>
        <p:spPr>
          <a:xfrm>
            <a:off x="548640" y="331927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33192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24612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Ät, drick och smaka aldrig i labbet.</a:t>
            </a:r>
            <a:endParaRPr lang="en-US" sz="2400" dirty="0"/>
          </a:p>
        </p:txBody>
      </p:sp>
      <p:sp>
        <p:nvSpPr>
          <p:cNvPr id="13" name="Steg 4"/>
          <p:cNvSpPr/>
          <p:nvPr/>
        </p:nvSpPr>
        <p:spPr>
          <a:xfrm>
            <a:off x="548640" y="418795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41879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411480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Säg till direkt om något går sönder eller om du skadar dig.</a:t>
            </a:r>
            <a:endParaRPr lang="en-US" sz="2400" dirty="0"/>
          </a:p>
        </p:txBody>
      </p:sp>
      <p:sp>
        <p:nvSpPr>
          <p:cNvPr id="16" name="Steg 5"/>
          <p:cNvSpPr/>
          <p:nvPr/>
        </p:nvSpPr>
        <p:spPr>
          <a:xfrm>
            <a:off x="548640" y="5056632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50566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325880" y="4983480"/>
            <a:ext cx="103144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Städa och tvätta händerna när du är klar.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Gör frågan ”Är hundar snälla?” undersökningsbar.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är skillnaden mellan oberoende och beroende variabel?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behövs en kontrollgrupp?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får man bara ändra en variabel åt gången?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Dokumentera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2: tabell, diagram och rapport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Skriv värdena i en tabell</a:t>
            </a:r>
            <a:endParaRPr lang="en-US" sz="3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114800"/>
                <a:gridCol w="423367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Dag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Ljus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Mörker (mm)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28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42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Påhittade exempelvärden. Rubriker och enheter. Medelvärde = summan delat med antalet värden.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Välj diagram: stapel eller linje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5120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Stapeldiagram: jämför grupper.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Linjediagram: förändring över tid, tid på x-axeln.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Rubrik, namn och enhet på axlarna.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chemeClr val="tx1"/>
                </a:solidFill>
              </a:rPr>
              <a:t>Läs av: högst stapel, skillnad, enhet.</a:t>
            </a:r>
            <a:endParaRPr lang="en-US" sz="2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035040" y="1463040"/>
          <a:ext cx="55778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Så skriver du en rapport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Syfte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vill du ta reda på?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3390138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3618738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1873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618738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Hypotes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3618738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tror du, och varför?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6231636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6460236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60236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460236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Material och metod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6460236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Vad använde du, hur gjorde du?</a:t>
            </a:r>
            <a:endParaRPr lang="en-US" sz="1800" dirty="0"/>
          </a:p>
        </p:txBody>
      </p:sp>
      <p:sp>
        <p:nvSpPr>
          <p:cNvPr id="19" name="Kort 4"/>
          <p:cNvSpPr/>
          <p:nvPr/>
        </p:nvSpPr>
        <p:spPr>
          <a:xfrm>
            <a:off x="9073134" y="1554480"/>
            <a:ext cx="2567178" cy="3108960"/>
          </a:xfrm>
          <a:prstGeom prst="roundRect">
            <a:avLst>
              <a:gd name="adj" fmla="val 427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iffra 4"/>
          <p:cNvSpPr/>
          <p:nvPr/>
        </p:nvSpPr>
        <p:spPr>
          <a:xfrm>
            <a:off x="9301734" y="1783080"/>
            <a:ext cx="502920" cy="50292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30173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301734" y="2423160"/>
            <a:ext cx="21099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Resultat</a:t>
            </a:r>
            <a:endParaRPr lang="en-US" sz="2200" dirty="0"/>
          </a:p>
        </p:txBody>
      </p:sp>
      <p:sp>
        <p:nvSpPr>
          <p:cNvPr id="23" name="Text 20"/>
          <p:cNvSpPr txBox="1"/>
          <p:nvPr/>
        </p:nvSpPr>
        <p:spPr>
          <a:xfrm>
            <a:off x="9301734" y="3017520"/>
            <a:ext cx="210997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Tabell och diagram.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Sist: diskussion och slutsats. Vad betyder resultatet? Felkällor?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ska en tabell innehålla?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När passar stapeldiagram, och när linjediagram?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Räkna medelvärdet av 12, 14 och 13 mm.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Vilka delar ingår i en rapport?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Värdera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Lektion 3: felkällor, tillförlitlighet och slutsats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Slump och systematiskt fel</a:t>
            </a:r>
            <a:endParaRPr lang="en-US" sz="3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846320"/>
                <a:gridCol w="3685032"/>
              </a:tblGrid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Typ av felkälla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Exempel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</a:rPr>
                        <a:t>Vad hjälper?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Slump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Man läser av linjalen lite olika varje gång.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Fler mätningar och upprepning.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tx1"/>
                          </a:solidFill>
                        </a:rPr>
                        <a:t>Systematiskt fel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Den mörka lådan är varmare. Man mäter alltid från fel ställe.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Bättre planering. Håll alla andra variabler lika.</a:t>
                      </a:r>
                      <a:endParaRPr lang="en-US" sz="20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5778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Upprepning minskar slumpens betydelse, men räddar inte ett systematiskt fel.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Kan jag lita på resultatet?</a:t>
            </a:r>
            <a:endParaRPr lang="en-US" sz="3600" dirty="0"/>
          </a:p>
        </p:txBody>
      </p:sp>
      <p:sp>
        <p:nvSpPr>
          <p:cNvPr id="4" name="Kort 1"/>
          <p:cNvSpPr/>
          <p:nvPr/>
        </p:nvSpPr>
        <p:spPr>
          <a:xfrm>
            <a:off x="548640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iffra 1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Tillförlitlighet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Skulle vi få samma resultat om vi gjorde om försöket?</a:t>
            </a:r>
            <a:endParaRPr lang="en-US" sz="1800" dirty="0"/>
          </a:p>
        </p:txBody>
      </p:sp>
      <p:sp>
        <p:nvSpPr>
          <p:cNvPr id="9" name="Kort 2"/>
          <p:cNvSpPr/>
          <p:nvPr/>
        </p:nvSpPr>
        <p:spPr>
          <a:xfrm>
            <a:off x="4337304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iffra 2"/>
          <p:cNvSpPr/>
          <p:nvPr/>
        </p:nvSpPr>
        <p:spPr>
          <a:xfrm>
            <a:off x="4565904" y="1783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5904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565904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Giltighet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4565904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Mätte vi det vi ville veta? Är höjd ett bra mått på att krassen mår bra?</a:t>
            </a:r>
            <a:endParaRPr lang="en-US" sz="1800" dirty="0"/>
          </a:p>
        </p:txBody>
      </p:sp>
      <p:sp>
        <p:nvSpPr>
          <p:cNvPr id="14" name="Kort 3"/>
          <p:cNvSpPr/>
          <p:nvPr/>
        </p:nvSpPr>
        <p:spPr>
          <a:xfrm>
            <a:off x="8125968" y="1554480"/>
            <a:ext cx="3514344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iffra 3"/>
          <p:cNvSpPr/>
          <p:nvPr/>
        </p:nvSpPr>
        <p:spPr>
          <a:xfrm>
            <a:off x="8354568" y="178308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354568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8354568" y="2423160"/>
            <a:ext cx="30571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Slutsats</a:t>
            </a:r>
            <a:endParaRPr lang="en-US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8354568" y="3017520"/>
            <a:ext cx="305714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Svara på frågan och stämma med resultatet. Skriv också vad du inte vet.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235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Ett resultat som inte stämmer med hypotesen är inget misslyckande.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Kolla dig själv</a:t>
            </a:r>
            <a:endParaRPr lang="en-US" sz="3600" dirty="0"/>
          </a:p>
        </p:txBody>
      </p:sp>
      <p:sp>
        <p:nvSpPr>
          <p:cNvPr id="4" name="Kolla dig själv"/>
          <p:cNvSpPr/>
          <p:nvPr/>
        </p:nvSpPr>
        <p:spPr>
          <a:xfrm>
            <a:off x="548640" y="1554480"/>
            <a:ext cx="11091672" cy="4297680"/>
          </a:xfrm>
          <a:prstGeom prst="roundRect">
            <a:avLst>
              <a:gd name="adj" fmla="val 3191"/>
            </a:avLst>
          </a:prstGeom>
          <a:solidFill>
            <a:schemeClr val="bg2"/>
          </a:solidFill>
          <a:ln w="25400">
            <a:solidFill>
              <a:schemeClr val="accent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737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chemeClr val="accent1"/>
                </a:solidFill>
              </a:rPr>
              <a:t>KOLLA DIG SJÄLV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194560"/>
            <a:ext cx="103601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Skillnaden mellan slump och systematiskt fel? Ge ett exempel på vardera.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minskar slumpen när man upprepar ett försök?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Vad menas med giltighet?</a:t>
            </a:r>
            <a:endParaRPr lang="en-US" sz="2600" dirty="0"/>
          </a:p>
          <a:p>
            <a:pPr marL="342900" indent="-342900">
              <a:spcAft>
                <a:spcPts val="1200"/>
              </a:spcAft>
              <a:buSzPct val="100000"/>
              <a:buFont typeface="+mj-lt"/>
              <a:buAutoNum type="arabicPeriod" startAt="1"/>
            </a:pPr>
            <a:r>
              <a:rPr lang="en-US" sz="2600" dirty="0">
                <a:solidFill>
                  <a:schemeClr val="tx1"/>
                </a:solidFill>
              </a:rPr>
              <a:t>Varför ska en slutsats också säga vad man inte vet?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210312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Labb 1.1 Reaktionstid</a:t>
            </a:r>
            <a:endParaRPr lang="en-US" sz="44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chemeClr val="bg2"/>
                </a:solidFill>
              </a:rPr>
              <a:t>Ca 45 min: planera och genomför ett rättvist försök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Hur snabb är din reaktion?</a:t>
            </a:r>
            <a:endParaRPr lang="en-US" sz="3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554480"/>
            <a:ext cx="6245352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Din kompis släpper linjalen utan förvarning.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Du fångar den. Läs av fallsträckan i cm.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Minst fem försök per hand. Samma linjal, samma startläge.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chemeClr val="tx1"/>
                </a:solidFill>
              </a:rPr>
              <a:t>Tabell, medelvärde och stapeldiagram. Skriv slutsats och felkällor.</a:t>
            </a:r>
            <a:endParaRPr lang="en-US" sz="2400" dirty="0"/>
          </a:p>
        </p:txBody>
      </p:sp>
      <p:pic>
        <p:nvPicPr>
          <p:cNvPr id="5" name="Image 0" descr="Hur snabb är din reaktion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1192" y="2156770"/>
            <a:ext cx="4389120" cy="327597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Från fallsträcka till reaktionstid</a:t>
            </a:r>
            <a:endParaRPr lang="en-US" sz="36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1584525"/>
                <a:gridCol w="1584525"/>
                <a:gridCol w="1584525"/>
                <a:gridCol w="1584525"/>
                <a:gridCol w="1584525"/>
                <a:gridCol w="1584525"/>
                <a:gridCol w="1584525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Fallsträcka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15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25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30 cm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Reaktionstid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0,14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0,17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0,20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0,23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0,25 s</a:t>
                      </a:r>
                      <a:endParaRPr lang="en-US" sz="1800" dirty="0"/>
                    </a:p>
                  </a:txBody>
                  <a:tcPr marL="109728" marR="109728" marT="73152" marB="73152" anchor="ctr">
                    <a:lnL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8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338328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Beräknat med t = √(2·s/g). Diskutera: kan övning vara en felkälla? Hur förbättrar vi försöket?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4552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ologi grön">
  <a:themeElements>
    <a:clrScheme name="Biologi grön">
      <a:dk1>
        <a:srgbClr val="1F2A24"/>
      </a:dk1>
      <a:lt1>
        <a:srgbClr val="FFFFFF"/>
      </a:lt1>
      <a:dk2>
        <a:srgbClr val="245040"/>
      </a:dk2>
      <a:lt2>
        <a:srgbClr val="EAF3EC"/>
      </a:lt2>
      <a:accent1>
        <a:srgbClr val="2F6B4F"/>
      </a:accent1>
      <a:accent2>
        <a:srgbClr val="E0782F"/>
      </a:accent2>
      <a:accent3>
        <a:srgbClr val="4F8A63"/>
      </a:accent3>
      <a:accent4>
        <a:srgbClr val="2B6A8A"/>
      </a:accent4>
      <a:accent5>
        <a:srgbClr val="A8651A"/>
      </a:accent5>
      <a:accent6>
        <a:srgbClr val="B3402F"/>
      </a:accent6>
      <a:hlink>
        <a:srgbClr val="2B6A8A"/>
      </a:hlink>
      <a:folHlink>
        <a:srgbClr val="6B625B"/>
      </a:folHlink>
    </a:clrScheme>
    <a:fontScheme name="Biologi grön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Undersöka systematiskt</dc:title>
  <dc:subject>Biologi åk 7–9</dc:subject>
  <dc:creator>Pluggis</dc:creator>
  <cp:lastModifiedBy>Pluggis</cp:lastModifiedBy>
  <cp:revision>1</cp:revision>
  <dcterms:created xsi:type="dcterms:W3CDTF">2026-10-12T17:54:19Z</dcterms:created>
  <dcterms:modified xsi:type="dcterms:W3CDTF">2026-10-12T17:54:19Z</dcterms:modified>
</cp:coreProperties>
</file>