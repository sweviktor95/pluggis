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ce5faa9-02a6-032f-8c31-6c4a21a4d4b1}">
          <p14:sldIdLst>
            <p14:sldId id="256"/>
          </p14:sldIdLst>
        </p14:section>
        <p14:section name="1.1.1 Från fråga till plan" id="{1efc4dd3-3391-3540-3b6e-c40f8b8121f8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.1.2 Dokumentera" id="{5312823a-217a-d734-380a-63a2699c739d}">
          <p14:sldIdLst>
            <p14:sldId id="263"/>
            <p14:sldId id="264"/>
            <p14:sldId id="265"/>
            <p14:sldId id="266"/>
            <p14:sldId id="267"/>
          </p14:sldIdLst>
        </p14:section>
        <p14:section name="1.1.3 Värdera" id="{bfcfa1cd-55b1-30ed-cc3d-1e0ff3305ae3}">
          <p14:sldIdLst>
            <p14:sldId id="268"/>
            <p14:sldId id="269"/>
            <p14:sldId id="270"/>
            <p14:sldId id="271"/>
          </p14:sldIdLst>
        </p14:section>
        <p14:section name="Labb 1.1 Reaktionstid" id="{6381e560-0fdd-27ad-162f-c1a86410f16f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Krassens höjd (mm) över tid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Ljus</c:v>
                </c:pt>
              </c:strCache>
            </c:strRef>
          </c:tx>
          <c:spPr>
            <a:solidFill>
              <a:srgbClr val="4F8A63"/>
            </a:solidFill>
            <a:ln w="38100" cap="flat">
              <a:solidFill>
                <a:srgbClr val="4F8A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4F8A63"/>
              </a:solidFill>
              <a:ln w="9525" cap="flat">
                <a:solidFill>
                  <a:srgbClr val="4F8A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28</c:v>
                </c:pt>
                <c:pt idx="3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Mörker</c:v>
                </c:pt>
              </c:strCache>
            </c:strRef>
          </c:tx>
          <c:spPr>
            <a:solidFill>
              <a:srgbClr val="E0782F"/>
            </a:solidFill>
            <a:ln w="38100" cap="flat">
              <a:solidFill>
                <a:srgbClr val="E078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0782F"/>
              </a:solidFill>
              <a:ln w="9525" cap="flat">
                <a:solidFill>
                  <a:srgbClr val="E078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25</c:v>
                </c:pt>
                <c:pt idx="2">
                  <c:v>42</c:v>
                </c:pt>
                <c:pt idx="3">
                  <c:v>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Dag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Höjd (mm)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A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1.1.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Börja med att fråga: Vad är biologi? Vilka sorters biologer känner ni till?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eleverna omformulera egna åsiktsfrågor.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teori är en väl prövad förklaring med många belägg, till skillnad från en hypotes.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eleverna blandar ihop oberoende och beroende variabel. Hjälp: det jag ändrar / det jag mäter.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varför ska man inte äta i labbet ens när det är ofarligt?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Exempelvärden. Räkna medelvärde av upprepade mätningar, t.ex. 12, 14 och 13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att samma data kan visas som linje (över tid) eller staplar (dag 7). Diskutera vilket som passar frågan.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Rapporten ska vara så tydlig att någon annan kan göra om försöket.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Skillnaden mellan slump och systematiskt fel är en C-nivå-poäng.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Ellas slutsats: krasse i mörker blir högre men svagare. Hon kan inte säga att alla växter gör så.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linjal 30 cm, penna, papper. Förväntat: ca 15–25 cm, alltså 0,17–0,23 s. Redovisa klassens värden, inte personliga.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Vanliga fel: eleven ser kompisens hand, linjalen hålls sned, noll ligger inte vid fingrarna.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Bonuslabb finns i lärarversionen av kapitlet: Hjälper musik minnet?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1.1 Undersöka systematiskt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Undersöka systematiskt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1.1: fråga, plan, tabell, diagram och slutsats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1.1.1 Från fråga till plan · 1.1.2 Dokumentera · 1.1.3 Värdera · Labb 1.1 Reaktionstid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1.1.1 Från fråga till plan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undersökningsbar fråga, hypotes och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Gör frågan undersökningsbar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24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inte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solrosor fina?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Hur mycket växer en solros på en vecka?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musik bra när man pluggar?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Kommer man ihåg fler ord efter musik än efter tystnad?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krasse bra?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Växer krasse högre i ljus än i mörker?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En undersökningsbar fråga kan besvaras med mätning eller observation.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Forskning är en cykel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Fråga: vad undrar jag?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Hypotes: ett prövbart svar med en motivering.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Testa: gör en undersökning.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Slutsats: vad lärde jag mig? Ofta kommer en ny fråga.</a:t>
            </a:r>
            <a:endParaRPr lang="en-US" sz="2400" dirty="0"/>
          </a:p>
        </p:txBody>
      </p:sp>
      <p:pic>
        <p:nvPicPr>
          <p:cNvPr id="5" name="Image 0" descr="Forskning är en cyk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324851"/>
            <a:ext cx="5852160" cy="2939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Ett rättvist försök: krasse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3309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Oberoende variabel: ljus eller mörker (det vi ändrar).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Beroende variabel: höjd i mm (det vi mäter).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Kontrollerade variabler: jord, vatten, temperatur, antal frön, tid.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Kontrollgrupp: krassen i ljus.</a:t>
            </a:r>
            <a:endParaRPr lang="en-US" sz="2200" dirty="0"/>
          </a:p>
        </p:txBody>
      </p:sp>
      <p:pic>
        <p:nvPicPr>
          <p:cNvPr id="5" name="Image 0" descr="Ett rättvist försök: kr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712621"/>
            <a:ext cx="5303520" cy="21642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Säkerhet i labbet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Läs hela instruktionen först.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Skyddsglasögon och förkläde när läraren säger det. Sätt upp långt hår.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Ät, drick och smaka aldrig i labbet.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Säg till direkt om något går sönder eller om du skadar dig.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Städa och tvätta händerna när du är klar.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1.1.1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Gör frågan ”Är hundar snälla?” undersökningsbar.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oberoende och beroende variabel?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behövs en kontrollgrupp?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får man bara ändra en variabel åt gången?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1.1.2 Dokumentera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tabell, diagram och rapport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Skriv värdena i en tabell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336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Dag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Ljus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Mörker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Rubriker och enheter. Medelvärde = summan delat med antalet värden.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Välj diagram: stapel eller linje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Stapeldiagram: jämför grupper.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Linjediagram: förändring över tid, tid på x-axeln.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Rubrik, namn och enhet på axlarna.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Läs av: högst stapel, skillnad, enhet.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skriver du en rapport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Syfte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vill du ta reda på?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tror du, och varför?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Material och metod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använde du, hur gjorde du?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Tabell och diagram.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Sist: diskussion och slutsats. Vad betyder resultatet? Felkällor?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1.1.2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ska en tabell innehålla?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När passar stapeldiagram, och när linjediagram?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Räkna medelvärdet av 12, 14 och 13 mm.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Vilka delar ingår i en rapport?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1.1.3 Värdera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felkällor, tillförlitlighet och slutsats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Slump och systematiskt fel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846320"/>
                <a:gridCol w="3685032"/>
              </a:tblGrid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Typ av felkälla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Vad hjälper?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Slump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Man läser av linjalen lite olika varje gång.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Fler mätningar och upprepning.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Systematiskt fel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Den mörka lådan är varmare. Man mäter alltid från fel ställe.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Bättre planering. Håll alla andra variabler lika.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Upprepning minskar slumpens betydelse, men räddar inte ett systematiskt 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Kan jag lita på resultatet?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Tillförlitlighet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Skulle vi få samma resultat om vi gjorde om försöket?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Giltighet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Mätte vi det vi ville veta? Är höjd ett bra mått på att krassen mår bra?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Slutsats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Svara på frågan och stämma med resultatet. Skriv också vad du inte vet.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resultat som inte stämmer med hypotesen är inget misslyckande.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1.1.3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Skillnaden mellan slump och systematiskt fel? Ge ett exempel på vardera.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minskar slumpen när man upprepar ett försök?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giltighet?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en slutsats också säga vad man inte vet?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1.1 Reaktionstid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planera och genomför ett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Hur snabb är din reaktion?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62453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Din kompis släpper linjalen utan förvarning.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Du fångar den. Läs av fallsträckan i cm.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Minst fem försök per hand. Samma linjal, samma startläge.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Tabell, medelvärde och stapeldiagram. Skriv slutsats och felkällor.</a:t>
            </a:r>
            <a:endParaRPr lang="en-US" sz="2400" dirty="0"/>
          </a:p>
        </p:txBody>
      </p:sp>
      <p:pic>
        <p:nvPicPr>
          <p:cNvPr id="5" name="Image 0" descr="Hur snabb är din reaktion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2156770"/>
            <a:ext cx="4389120" cy="32759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Från fallsträcka till reaktionstid</a:t>
            </a:r>
            <a:endParaRPr lang="en-US" sz="3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584525"/>
                <a:gridCol w="1584525"/>
                <a:gridCol w="1584525"/>
                <a:gridCol w="1584525"/>
                <a:gridCol w="1584525"/>
                <a:gridCol w="1584525"/>
                <a:gridCol w="158452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Fallsträcka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30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Reaktionstid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0,14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0,17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0,23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0,25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3832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Beräknat med t = √(2·s/g). Diskutera: kan övning vara en felkälla? Hur förbättrar vi försöket?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Undersöka systematiskt</dc:title>
  <dc:subject>Biologi åk 7–9</dc:subject>
  <dc:creator>Pluggis</dc:creator>
  <cp:lastModifiedBy>Pluggis</cp:lastModifiedBy>
  <cp:revision>1</cp:revision>
  <dcterms:created xsi:type="dcterms:W3CDTF">2026-10-12T12:52:08Z</dcterms:created>
  <dcterms:modified xsi:type="dcterms:W3CDTF">2026-10-12T12:52:08Z</dcterms:modified>
</cp:coreProperties>
</file>