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1bd435b8-05e5-894c-ea65-1c2d40baf4c1}">
          <p14:sldIdLst>
            <p14:sldId id="256"/>
          </p14:sldIdLst>
        </p14:section>
        <p14:section name="Vad kan vetenskap pröva?" id="{dfc8f173-56ed-5791-48cf-84272bab94d4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När forskare ändrat sig" id="{b16d1ebb-d657-bc61-dbad-1e361a1a5096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Söka information och bedöma källor" id="{c3b79c51-a550-89f2-02fc-4b230ae024bc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Labb 1.2 Granska ett påstående" id="{f1ea0494-1756-f577-79ad-5f291428cc10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245040"/>
                </a:solidFill>
                <a:latin typeface="+mn-lt"/>
              </a:defRPr>
            </a:pPr>
            <a:r>
              <a:rPr sz="1800" b="0" i="0" u="none" strike="noStrike">
                <a:solidFill>
                  <a:srgbClr val="245040"/>
                </a:solidFill>
                <a:latin typeface="+mn-lt"/>
              </a:rPr>
              <a:t>Dödlighet på läkarkliniken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Dödlighet (%)</c:v>
                </c:pt>
              </c:strCache>
            </c:strRef>
          </c:tx>
          <c:spPr>
            <a:solidFill>
              <a:srgbClr val="E0782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A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782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F8A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1846</c:v>
                  </c:pt>
                  <c:pt idx="1">
                    <c:v>1848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11.4</c:v>
                </c:pt>
                <c:pt idx="1">
                  <c:v>1.3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600" u="none">
                  <a:solidFill>
                    <a:srgbClr val="1F2A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3D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1F2A24"/>
                    </a:solidFill>
                    <a:latin typeface="Arial"/>
                  </a:defRPr>
                </a:pPr>
                <a:r>
                  <a:rPr sz="1400" b="0" i="0" u="none" strike="noStrike">
                    <a:solidFill>
                      <a:srgbClr val="1F2A24"/>
                    </a:solidFill>
                    <a:latin typeface="Arial"/>
                  </a:rPr>
                  <a:t>Procent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Presentationen följer grundtexten i kapitel 1, delområde 1.2. Några bilder per lektion. Anteckningarna innehåller handledning.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Starta med: vad är skillnaden på att veta och att tycka?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sortera egna påståenden i de tre grupperna.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Vanligt fel: pröva uppfattas som bevisa sant.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Källa: Carlson 1985, Nature. Fråga: varför är ”Det funkade för mig!” inget starkt belägg?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Diskutera: varför är det en styrka att kunna ha fel?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Modell = förenkling av verkligheten.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Poängen: ett rättvist försök, en variabel ändras.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Siffror: 11,4 % (1846) till 1,3 % (1848), MJA 2018. Han kunde inte förklara varför, bakterieläran fanns inte än, och han publicerade sig 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Självförsöket är inget att efterlikna. Forskning på människor etikprövas idag.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Modellen är en förenkling och kan behöva ändras.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Ingen källtyp är alltid bra eller dålig.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studie på möss kan vara trovärdig men inte relevant för människor.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Inlägget är påhittat och används bara som övning.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Exempel: skolor bör ha rutiner för handtvätt, med Semmelweis som belägg.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Facit finns i lärarversionen: tio-procentsmyten, socker och hyperaktivitet, blixten slår aldrig ned två gånger.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Bedömning: C kräver motiverad bedömning av trovärdighet och relevans samt ett argument med bemött motargument.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Sluttid: redovisa hur två trovärdiga källor kan säga olika.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VSNIT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NEHAL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Biologi · Kapitel 1 · Delområde 1.2 Modeller, källor och argument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bg2"/>
                </a:solidFill>
              </a:rPr>
              <a:t>BIOLOGI · KAPITEL 1 · BIOLOGI SOM VETENSKAP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Modeller, källor och argument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Delområde 1.2: vad vetenskap kan pröva, när forskare ändrat sig, källkritik och argument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Lektion Vad kan vetenskap pröva? · När forskare ändrat sig · Söka information och bedöma källor · Labb 1.2 Granska ett påstående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Vad kan vetenskap pröva?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1: belägg, åsikt, tro och pseudovetenskap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Belägg, åsikt eller tro?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Belägg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Mätningar och observationer som andra kan kontrollera. Vatten fryser vid 0 °C.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Åsikt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Vad någon tycker. Går inte att mäta. Pizza är godast.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Tro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Övertygelse som inte kan prövas. Vetenskapen kan varken bevisa eller motbevisa.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Ett påstående måste kunna visa sig vara fel för att kunna prövas.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Går det att pröva?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377440"/>
                <a:gridCol w="3959352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Påstående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Prövbart?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Varför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Hundar har bättre luktsinne än människor.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Ja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Testa hur svaga lukter som hittas.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Katter är gulligare än hundar.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Nej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Åsikt, inget att mäta.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Krasse gror snabbare vid 20 än 10 °C.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Ja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Mät antal frön som gror.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Det är fel att jaga varg.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Inte bara med mätningar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Värdering. Biologi ger fakta, inte svaret.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Horoskop prövades</a:t>
            </a:r>
            <a:endParaRPr lang="en-US" sz="3600" dirty="0"/>
          </a:p>
        </p:txBody>
      </p:sp>
      <p:sp>
        <p:nvSpPr>
          <p:cNvPr id="4" name="Siffra"/>
          <p:cNvSpPr/>
          <p:nvPr/>
        </p:nvSpPr>
        <p:spPr>
          <a:xfrm>
            <a:off x="548640" y="1554480"/>
            <a:ext cx="4206240" cy="411480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201168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28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74904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erfarna astrologer, dubbelblint test (Carlson, Nature 1985)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212080" y="1554480"/>
            <a:ext cx="642823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De skulle para ihop födelsehoroskop med personlighetsprofiler.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De lyckades inte bättre än slumpen.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Pseudovetenskap låter vetenskapligt men saknar prövade belägg.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Vetenskap eller pseudovetenskap?</a:t>
            </a:r>
            <a:endParaRPr lang="en-US" sz="3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605272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bg1"/>
                          </a:solidFill>
                        </a:rPr>
                        <a:t>Vetenskap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bg1"/>
                          </a:solidFill>
                        </a:rPr>
                        <a:t>Pseudovetenskap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Kan visa sig vara fel.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Vagt, går inte att pröva.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Många deltagare i undersökningarna.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Enstaka berättelser.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Granskas av andra experter.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Granskas inte, eller av den som säljer.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Ändrar sig vid nya belägg.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Håller fast vid idén.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är skillnaden mellan belägg och åsikt?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kan man inte pröva ”Det är fel att jaga varg” med bara mätningar?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Ge två kännetecken på pseudovetenskap.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När forskare ändrat sig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2: modeller och forskare som ändrat sig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Pasteur och svanhalskolven (1861)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496519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Många trodde att mikroorganismer uppstod av sig själva.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Kolv A: rakt rör, buljongen blev grumlig.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Kolv B: böjd svanhals, buljongen förblev klar.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Bara en sak skilde: halsens form.</a:t>
            </a:r>
            <a:endParaRPr lang="en-US" sz="2200" dirty="0"/>
          </a:p>
        </p:txBody>
      </p:sp>
      <p:pic>
        <p:nvPicPr>
          <p:cNvPr id="5" name="Image 0" descr="Pasteur och svanhalskolven (1861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71032" y="2067462"/>
            <a:ext cx="5669280" cy="34545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Semmelweis och handtvätten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120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Läkarnas avdelning: fler mödrar dog.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1847: Kolletschka dog efter skärsår vid obduktion.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Semmelweis krävde handtvätt i klorkalklösning.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Ändå godtogs inte idén.</a:t>
            </a:r>
            <a:endParaRPr lang="en-US" sz="2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035040" y="1463040"/>
          <a:ext cx="55778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Marshall, Warren och magsåren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87959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Man trodde att stress och livsstil gav magsår.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1982: bakterien Helicobacter pylori upptäcks.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1984: Marshall dricker en bakterieodling.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Magsår botas med antibiotika och syrahämmande medel.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Nobelpriset 2005.</a:t>
            </a:r>
            <a:endParaRPr lang="en-US" sz="2200" dirty="0"/>
          </a:p>
        </p:txBody>
      </p:sp>
      <p:pic>
        <p:nvPicPr>
          <p:cNvPr id="5" name="Image 0" descr="Marshall, Warren och magsår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2418003"/>
            <a:ext cx="4754880" cy="275351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Mönstret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Belägg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 undersökning som inte passade den gamla förklaringen.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Motstånd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Det tog tid att övertyga andra.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Ny modell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Helst en förklaring av hur det fungerar.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Forskarvärlden vill ha belägg som kan granskas och upprepas.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visade Pasteurs svanhalskolv?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var beläggen för Semmelweis idé?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trodde många inte på honom?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menas med att en modell är en förenkling? Ge ett exempel.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Söka information och bedöma källor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3: källor, källkritik och argument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Typer av källor</a:t>
            </a:r>
            <a:endParaRPr lang="en-US" sz="3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926080"/>
                <a:gridCol w="267919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Källa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Exempel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Styrka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Se upp med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Myndighet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Folkhälsomyndigheten, 1177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Granskad, oberoende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Allmänt hållen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Forskning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Universitet, artikel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Granskad av experter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En studie räcker inte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Nyhetsmedia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Tidning, tv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Snabb, lättläst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Vinklade rubriker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Sociala medier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Inlägg, video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Nya idéer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Ofta ogranskat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Reklam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Produktsida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Känner produkten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Vill sälja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Fyra källkritiska frågor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Äkthet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Är källan äkta?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3390138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3618738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873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618738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Tid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3618738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Hur gammal är den? Är den aktuell?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6231636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6460236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60236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460236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Beroende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460236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Var kommer uppgifterna ifrån?</a:t>
            </a:r>
            <a:endParaRPr lang="en-US" sz="1800" dirty="0"/>
          </a:p>
        </p:txBody>
      </p:sp>
      <p:sp>
        <p:nvSpPr>
          <p:cNvPr id="19" name="Kort 4"/>
          <p:cNvSpPr/>
          <p:nvPr/>
        </p:nvSpPr>
        <p:spPr>
          <a:xfrm>
            <a:off x="9073134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iffra 4"/>
          <p:cNvSpPr/>
          <p:nvPr/>
        </p:nvSpPr>
        <p:spPr>
          <a:xfrm>
            <a:off x="9301734" y="17830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30173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301734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Tendens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9301734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Vill avsändaren något?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Trovärdig = går att lita på. Relevant = passar min fråga.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Granska ett inlägg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6967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Vem har skrivit det?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Finns belägg eller bara en berättelse?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Vill någon sälja något?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Hur nytt är det?</a:t>
            </a:r>
            <a:endParaRPr lang="en-US" sz="2400" dirty="0"/>
          </a:p>
        </p:txBody>
      </p:sp>
      <p:pic>
        <p:nvPicPr>
          <p:cNvPr id="5" name="Image 0" descr="Granska ett inläg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2417080"/>
            <a:ext cx="4937760" cy="2755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Så argumenterar du</a:t>
            </a:r>
            <a:endParaRPr lang="en-US" sz="3600" dirty="0"/>
          </a:p>
        </p:txBody>
      </p:sp>
      <p:sp>
        <p:nvSpPr>
          <p:cNvPr id="4" name="Steg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50876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Påstående.</a:t>
            </a:r>
            <a:endParaRPr lang="en-US" sz="2400" dirty="0"/>
          </a:p>
        </p:txBody>
      </p:sp>
      <p:sp>
        <p:nvSpPr>
          <p:cNvPr id="7" name="Steg 2"/>
          <p:cNvSpPr/>
          <p:nvPr/>
        </p:nvSpPr>
        <p:spPr>
          <a:xfrm>
            <a:off x="548640" y="24505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37744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Belägg: varför?</a:t>
            </a:r>
            <a:endParaRPr lang="en-US" sz="2400" dirty="0"/>
          </a:p>
        </p:txBody>
      </p:sp>
      <p:sp>
        <p:nvSpPr>
          <p:cNvPr id="10" name="Steg 3"/>
          <p:cNvSpPr/>
          <p:nvPr/>
        </p:nvSpPr>
        <p:spPr>
          <a:xfrm>
            <a:off x="548640" y="331927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24612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Motargument: vad kan någon säga emot?</a:t>
            </a:r>
            <a:endParaRPr lang="en-US" sz="2400" dirty="0"/>
          </a:p>
        </p:txBody>
      </p:sp>
      <p:sp>
        <p:nvSpPr>
          <p:cNvPr id="13" name="Steg 4"/>
          <p:cNvSpPr/>
          <p:nvPr/>
        </p:nvSpPr>
        <p:spPr>
          <a:xfrm>
            <a:off x="548640" y="41879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411480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Bemöt motargumentet.</a:t>
            </a:r>
            <a:endParaRPr lang="en-US" sz="2400" dirty="0"/>
          </a:p>
        </p:txBody>
      </p:sp>
      <p:sp>
        <p:nvSpPr>
          <p:cNvPr id="16" name="Steg 5"/>
          <p:cNvSpPr/>
          <p:nvPr/>
        </p:nvSpPr>
        <p:spPr>
          <a:xfrm>
            <a:off x="548640" y="505663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056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498348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Slutsats.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är skillnaden mellan trovärdig och relevant?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ska man vara försiktig med reklam som källa?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Granska ett påstående med de fyra kriterierna.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Skriv ett kort argument med belägg och motargument.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Labb 1.2 Granska ett påstående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Granska ett påstående med två källor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Så gör du</a:t>
            </a:r>
            <a:endParaRPr lang="en-US" sz="3600" dirty="0"/>
          </a:p>
        </p:txBody>
      </p:sp>
      <p:sp>
        <p:nvSpPr>
          <p:cNvPr id="4" name="Steg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50876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Välj ett påstående.</a:t>
            </a:r>
            <a:endParaRPr lang="en-US" sz="2400" dirty="0"/>
          </a:p>
        </p:txBody>
      </p:sp>
      <p:sp>
        <p:nvSpPr>
          <p:cNvPr id="7" name="Steg 2"/>
          <p:cNvSpPr/>
          <p:nvPr/>
        </p:nvSpPr>
        <p:spPr>
          <a:xfrm>
            <a:off x="548640" y="24505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37744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Sök med flera sökord. Hitta två källor av olika typ.</a:t>
            </a:r>
            <a:endParaRPr lang="en-US" sz="2400" dirty="0"/>
          </a:p>
        </p:txBody>
      </p:sp>
      <p:sp>
        <p:nvSpPr>
          <p:cNvPr id="10" name="Steg 3"/>
          <p:cNvSpPr/>
          <p:nvPr/>
        </p:nvSpPr>
        <p:spPr>
          <a:xfrm>
            <a:off x="548640" y="331927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24612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Bedöm äkthet, tid, beroende och tendens.</a:t>
            </a:r>
            <a:endParaRPr lang="en-US" sz="2400" dirty="0"/>
          </a:p>
        </p:txBody>
      </p:sp>
      <p:sp>
        <p:nvSpPr>
          <p:cNvPr id="13" name="Steg 4"/>
          <p:cNvSpPr/>
          <p:nvPr/>
        </p:nvSpPr>
        <p:spPr>
          <a:xfrm>
            <a:off x="548640" y="41879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411480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Vilken källa litar du mest på? Varför?</a:t>
            </a:r>
            <a:endParaRPr lang="en-US" sz="2400" dirty="0"/>
          </a:p>
        </p:txBody>
      </p:sp>
      <p:sp>
        <p:nvSpPr>
          <p:cNvPr id="16" name="Steg 5"/>
          <p:cNvSpPr/>
          <p:nvPr/>
        </p:nvSpPr>
        <p:spPr>
          <a:xfrm>
            <a:off x="548640" y="505663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056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498348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Skriv ett argument med belägg och motargument.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Mall för granskning</a:t>
            </a:r>
            <a:endParaRPr lang="en-US" sz="3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657600"/>
                <a:gridCol w="368503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Fråga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Källa 1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Källa 2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Vem har skrivit?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Varför?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Belägg?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Hur nytt?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Trovärdig?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logi grön">
  <a:themeElements>
    <a:clrScheme name="Biologi grön">
      <a:dk1>
        <a:srgbClr val="1F2A24"/>
      </a:dk1>
      <a:lt1>
        <a:srgbClr val="FFFFFF"/>
      </a:lt1>
      <a:dk2>
        <a:srgbClr val="245040"/>
      </a:dk2>
      <a:lt2>
        <a:srgbClr val="EAF3EC"/>
      </a:lt2>
      <a:accent1>
        <a:srgbClr val="2F6B4F"/>
      </a:accent1>
      <a:accent2>
        <a:srgbClr val="E0782F"/>
      </a:accent2>
      <a:accent3>
        <a:srgbClr val="4F8A63"/>
      </a:accent3>
      <a:accent4>
        <a:srgbClr val="2B6A8A"/>
      </a:accent4>
      <a:accent5>
        <a:srgbClr val="A8651A"/>
      </a:accent5>
      <a:accent6>
        <a:srgbClr val="B3402F"/>
      </a:accent6>
      <a:hlink>
        <a:srgbClr val="2B6A8A"/>
      </a:hlink>
      <a:folHlink>
        <a:srgbClr val="6B625B"/>
      </a:folHlink>
    </a:clrScheme>
    <a:fontScheme name="Biologi grö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Modeller, källor och argument</dc:title>
  <dc:subject>Biologi åk 7–9</dc:subject>
  <dc:creator>Pluggis</dc:creator>
  <cp:lastModifiedBy>Pluggis</cp:lastModifiedBy>
  <cp:revision>1</cp:revision>
  <dcterms:created xsi:type="dcterms:W3CDTF">2026-10-12T18:26:18Z</dcterms:created>
  <dcterms:modified xsi:type="dcterms:W3CDTF">2026-10-12T18:26:18Z</dcterms:modified>
</cp:coreProperties>
</file>