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rt" id="{ed390f0b-dfc9-97a3-fa8a-9b7627335b29}">
          <p14:sldIdLst>
            <p14:sldId id="256"/>
          </p14:sldIdLst>
        </p14:section>
        <p14:section name="1.2.1 Vad kan vetenskap pröva?" id="{856f5c24-a688-321c-9c56-db5959c00332}">
          <p14:sldIdLst>
            <p14:sldId id="257"/>
            <p14:sldId id="258"/>
            <p14:sldId id="259"/>
            <p14:sldId id="260"/>
            <p14:sldId id="261"/>
            <p14:sldId id="262"/>
          </p14:sldIdLst>
        </p14:section>
        <p14:section name="1.2.2 När forskare ändrat sig" id="{f001ca36-c405-c87f-7c2a-6f8b49555997}">
          <p14:sldIdLst>
            <p14:sldId id="263"/>
            <p14:sldId id="264"/>
            <p14:sldId id="265"/>
            <p14:sldId id="266"/>
            <p14:sldId id="267"/>
            <p14:sldId id="268"/>
          </p14:sldIdLst>
        </p14:section>
        <p14:section name="1.2.3 Söka information och bedöma källor" id="{f428d000-be6d-9623-44ea-a0374616fb5c}">
          <p14:sldIdLst>
            <p14:sldId id="269"/>
            <p14:sldId id="270"/>
            <p14:sldId id="271"/>
            <p14:sldId id="272"/>
            <p14:sldId id="273"/>
            <p14:sldId id="274"/>
          </p14:sldIdLst>
        </p14:section>
        <p14:section name="Labb 1.2 Granska ett påstående" id="{b9c15dca-a4fd-6198-8b36-dbb08722fc8b}">
          <p14:sldIdLst>
            <p14:sldId id="275"/>
            <p14:sldId id="276"/>
            <p14:sldId id="27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245040"/>
                </a:solidFill>
                <a:latin typeface="+mn-lt"/>
              </a:defRPr>
            </a:pPr>
            <a:r>
              <a:rPr sz="1800" b="0" i="0" u="none" strike="noStrike">
                <a:solidFill>
                  <a:srgbClr val="245040"/>
                </a:solidFill>
                <a:latin typeface="+mn-lt"/>
              </a:rPr>
              <a:t>Dödlighet på läkarkliniken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Dödlighet (%)</c:v>
                </c:pt>
              </c:strCache>
            </c:strRef>
          </c:tx>
          <c:spPr>
            <a:solidFill>
              <a:srgbClr val="E0782F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600" u="none">
                    <a:solidFill>
                      <a:srgbClr val="1F2A2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0782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4F8A63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1846</c:v>
                  </c:pt>
                  <c:pt idx="1">
                    <c:v>1848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11.4</c:v>
                </c:pt>
                <c:pt idx="1">
                  <c:v>1.3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600" u="none">
                  <a:solidFill>
                    <a:srgbClr val="1F2A24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1F2A24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9525" cap="flat">
              <a:solidFill>
                <a:srgbClr val="D9E3DC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400" b="0" i="0" u="none" strike="noStrike">
                    <a:solidFill>
                      <a:srgbClr val="1F2A24"/>
                    </a:solidFill>
                    <a:latin typeface="Arial"/>
                  </a:defRPr>
                </a:pPr>
                <a:r>
                  <a:rPr sz="1400" b="0" i="0" u="none" strike="noStrike">
                    <a:solidFill>
                      <a:srgbClr val="1F2A24"/>
                    </a:solidFill>
                    <a:latin typeface="Arial"/>
                  </a:rPr>
                  <a:t>Procent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1F2A24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Presentationen följer grundtexten i kapitel 1, delområde 1.2. Några bilder per lektion. Anteckningarna innehåller handledning.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 50 min. Starta med: vad är skillnaden på att veta och att tycka?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Låt eleverna sortera egna påståenden i de tre grupperna.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Vanligt fel: pröva uppfattas som bevisa sant.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Källa: Carlson 1985, Nature. Fråga: varför är ”Det funkade för mig!” inget starkt belägg?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Diskutera: varför är det en styrka att kunna ha fel?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Låt eleverna svara i par eller på whiteboard. Facit finns i lärarversionen av kapitlet.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 50 min. Modell = förenkling av verkligheten.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Poängen: ett rättvist försök, en variabel ändras.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Siffror: 11,4 % (1846) till 1,3 % (1848), MJA 2018. Han kunde inte förklara varför, bakterieläran fanns inte än, och han publicerade sig sent.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Självförsöket är inget att efterlikna. Forskning på människor etikprövas idag.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Modellen är en förenkling och kan behöva ändras.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Låt eleverna svara i par eller på whiteboard. Facit finns i lärarversionen av kapitlet.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 50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Ingen källtyp är alltid bra eller dålig.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 studie på möss kan vara trovärdig men inte relevant för människor.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Inlägget är påhittat och används bara som övning.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Exempel: skolor bör ha rutiner för handtvätt, med Semmelweis som belägg.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Låt eleverna svara i par eller på whiteboard. Facit finns i lärarversionen av kapitlet.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Facit finns i lärarversionen: tio-procentsmyten, socker och hyperaktivitet, blixten slår aldrig ned två gånger.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Bedömning: C kräver motiverad bedömning av trovärdighet och relevans samt ett argument med bemött motargument.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Sluttid: redovisa hur två trovärdiga källor kan säga olika.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VSNITT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106984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NEHALL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Biologi · Kapitel 1 · Delområde 1.2 Modeller, källor och argument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731520" y="14630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chemeClr val="bg2"/>
                </a:solidFill>
              </a:rPr>
              <a:t>BIOLOGI · KAPITEL 1 · BIOLOGI SOM VETENSKAP</a:t>
            </a:r>
            <a:endParaRPr lang="en-US" sz="2000" dirty="0"/>
          </a:p>
        </p:txBody>
      </p:sp>
      <p:sp>
        <p:nvSpPr>
          <p:cNvPr id="4" name="Text 1"/>
          <p:cNvSpPr txBox="1"/>
          <p:nvPr/>
        </p:nvSpPr>
        <p:spPr>
          <a:xfrm>
            <a:off x="731520" y="2011680"/>
            <a:ext cx="10698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Modeller, källor och argument</a:t>
            </a:r>
            <a:endParaRPr lang="en-US" sz="54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393192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bg1"/>
                </a:solidFill>
              </a:rPr>
              <a:t>Delområde 1.2: vad vetenskap kan pröva, när forskare ändrat sig, källkritik och argument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566928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Lektion 1.2.1 Vad kan vetenskap pröva? · 1.2.2 När forskare ändrat sig · 1.2.3 Söka information och bedöma källor · Labb 1.2 Granska ett påstående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1.2.1 Vad kan vetenskap pröva?</a:t>
            </a:r>
            <a:endParaRPr lang="en-US" sz="44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731520" y="36576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Lektion 1: belägg, åsikt, tro och pseudovetenskap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200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Belägg, åsikt eller tro?</a:t>
            </a:r>
            <a:endParaRPr lang="en-US" sz="3600" dirty="0"/>
          </a:p>
        </p:txBody>
      </p:sp>
      <p:sp>
        <p:nvSpPr>
          <p:cNvPr id="4" name="Kort 1"/>
          <p:cNvSpPr/>
          <p:nvPr/>
        </p:nvSpPr>
        <p:spPr>
          <a:xfrm>
            <a:off x="548640" y="1554480"/>
            <a:ext cx="3514344" cy="3108960"/>
          </a:xfrm>
          <a:prstGeom prst="roundRect">
            <a:avLst>
              <a:gd name="adj" fmla="val 35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Siffra 1"/>
          <p:cNvSpPr/>
          <p:nvPr/>
        </p:nvSpPr>
        <p:spPr>
          <a:xfrm>
            <a:off x="777240" y="178308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423160"/>
            <a:ext cx="3057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Belägg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017520"/>
            <a:ext cx="3057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Mätningar och observationer som andra kan kontrollera. Vatten fryser vid 0 °C.</a:t>
            </a:r>
            <a:endParaRPr lang="en-US" sz="1800" dirty="0"/>
          </a:p>
        </p:txBody>
      </p:sp>
      <p:sp>
        <p:nvSpPr>
          <p:cNvPr id="9" name="Kort 2"/>
          <p:cNvSpPr/>
          <p:nvPr/>
        </p:nvSpPr>
        <p:spPr>
          <a:xfrm>
            <a:off x="4337304" y="1554480"/>
            <a:ext cx="3514344" cy="3108960"/>
          </a:xfrm>
          <a:prstGeom prst="roundRect">
            <a:avLst>
              <a:gd name="adj" fmla="val 35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Siffra 2"/>
          <p:cNvSpPr/>
          <p:nvPr/>
        </p:nvSpPr>
        <p:spPr>
          <a:xfrm>
            <a:off x="4565904" y="178308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65904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4565904" y="2423160"/>
            <a:ext cx="3057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Åsikt</a:t>
            </a:r>
            <a:endParaRPr lang="en-US" sz="2200" dirty="0"/>
          </a:p>
        </p:txBody>
      </p:sp>
      <p:sp>
        <p:nvSpPr>
          <p:cNvPr id="13" name="Text 10"/>
          <p:cNvSpPr txBox="1"/>
          <p:nvPr/>
        </p:nvSpPr>
        <p:spPr>
          <a:xfrm>
            <a:off x="4565904" y="3017520"/>
            <a:ext cx="3057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Vad någon tycker. Går inte att mäta. Pizza är godast.</a:t>
            </a:r>
            <a:endParaRPr lang="en-US" sz="1800" dirty="0"/>
          </a:p>
        </p:txBody>
      </p:sp>
      <p:sp>
        <p:nvSpPr>
          <p:cNvPr id="14" name="Kort 3"/>
          <p:cNvSpPr/>
          <p:nvPr/>
        </p:nvSpPr>
        <p:spPr>
          <a:xfrm>
            <a:off x="8125968" y="1554480"/>
            <a:ext cx="3514344" cy="3108960"/>
          </a:xfrm>
          <a:prstGeom prst="roundRect">
            <a:avLst>
              <a:gd name="adj" fmla="val 35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Siffra 3"/>
          <p:cNvSpPr/>
          <p:nvPr/>
        </p:nvSpPr>
        <p:spPr>
          <a:xfrm>
            <a:off x="8354568" y="1783080"/>
            <a:ext cx="502920" cy="50292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354568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8354568" y="2423160"/>
            <a:ext cx="3057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Tro</a:t>
            </a:r>
            <a:endParaRPr lang="en-US" sz="2200" dirty="0"/>
          </a:p>
        </p:txBody>
      </p:sp>
      <p:sp>
        <p:nvSpPr>
          <p:cNvPr id="18" name="Text 15"/>
          <p:cNvSpPr txBox="1"/>
          <p:nvPr/>
        </p:nvSpPr>
        <p:spPr>
          <a:xfrm>
            <a:off x="8354568" y="3017520"/>
            <a:ext cx="3057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Övertygelse som inte kan prövas. Vetenskapen kan varken bevisa eller motbevisa.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548640" y="56235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Ett påstående måste kunna visa sig vara fel för att kunna prövas.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200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Går det att pröva?</a:t>
            </a:r>
            <a:endParaRPr lang="en-US" sz="3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1672" cy="914400"/>
        </p:xfrm>
        <a:graphic>
          <a:graphicData uri="http://schemas.openxmlformats.org/drawingml/2006/table">
            <a:tbl>
              <a:tblPr/>
              <a:tblGrid>
                <a:gridCol w="4754880"/>
                <a:gridCol w="2377440"/>
                <a:gridCol w="3959352"/>
              </a:tblGrid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Påstående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Prövbart?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Varför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Hundar har bättre luktsinne än människor.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Ja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Testa hur svaga lukter som hittas.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Katter är gulligare än hundar.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Nej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Åsikt, inget att mäta.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Krasse gror snabbare vid 20 än 10 °C.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Ja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Mät antal frön som gror.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Det är fel att jaga varg.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Inte bara med mätningar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Värdering. Biologi ger fakta, inte svaret.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200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Horoskop prövades</a:t>
            </a:r>
            <a:endParaRPr lang="en-US" sz="3600" dirty="0"/>
          </a:p>
        </p:txBody>
      </p:sp>
      <p:sp>
        <p:nvSpPr>
          <p:cNvPr id="4" name="Siffra"/>
          <p:cNvSpPr/>
          <p:nvPr/>
        </p:nvSpPr>
        <p:spPr>
          <a:xfrm>
            <a:off x="548640" y="1554480"/>
            <a:ext cx="4206240" cy="4114800"/>
          </a:xfrm>
          <a:prstGeom prst="roundRect">
            <a:avLst>
              <a:gd name="adj" fmla="val 333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2011680"/>
            <a:ext cx="4206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chemeClr val="bg1"/>
                </a:solidFill>
              </a:rPr>
              <a:t>28</a:t>
            </a:r>
            <a:endParaRPr lang="en-US" sz="80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3749040"/>
            <a:ext cx="3657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erfarna astrologer, dubbelblint test (Carlson, Nature 1985)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5212080" y="1554480"/>
            <a:ext cx="6428232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De skulle para ihop födelsehoroskop med personlighetsprofiler.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De lyckades inte bättre än slumpen.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Pseudovetenskap låter vetenskapligt men saknar prövade belägg.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200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Vetenskap eller pseudovetenskap?</a:t>
            </a:r>
            <a:endParaRPr lang="en-US" sz="3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1672" cy="914400"/>
        </p:xfrm>
        <a:graphic>
          <a:graphicData uri="http://schemas.openxmlformats.org/drawingml/2006/table">
            <a:tbl>
              <a:tblPr/>
              <a:tblGrid>
                <a:gridCol w="5486400"/>
                <a:gridCol w="5605272"/>
              </a:tblGrid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chemeClr val="bg1"/>
                          </a:solidFill>
                        </a:rPr>
                        <a:t>Vetenskap</a:t>
                      </a:r>
                      <a:endParaRPr lang="en-US" sz="22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chemeClr val="bg1"/>
                          </a:solidFill>
                        </a:rPr>
                        <a:t>Pseudovetenskap</a:t>
                      </a:r>
                      <a:endParaRPr lang="en-US" sz="22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Kan visa sig vara fel.</a:t>
                      </a:r>
                      <a:endParaRPr lang="en-US" sz="22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chemeClr val="tx1"/>
                          </a:solidFill>
                        </a:rPr>
                        <a:t>Vagt, går inte att pröva.</a:t>
                      </a:r>
                      <a:endParaRPr lang="en-US" sz="22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Många deltagare i undersökningarna.</a:t>
                      </a:r>
                      <a:endParaRPr lang="en-US" sz="22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chemeClr val="tx1"/>
                          </a:solidFill>
                        </a:rPr>
                        <a:t>Enstaka berättelser.</a:t>
                      </a:r>
                      <a:endParaRPr lang="en-US" sz="22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Granskas av andra experter.</a:t>
                      </a:r>
                      <a:endParaRPr lang="en-US" sz="22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chemeClr val="tx1"/>
                          </a:solidFill>
                        </a:rPr>
                        <a:t>Granskas inte, eller av den som säljer.</a:t>
                      </a:r>
                      <a:endParaRPr lang="en-US" sz="22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Ändrar sig vid nya belägg.</a:t>
                      </a:r>
                      <a:endParaRPr lang="en-US" sz="22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chemeClr val="tx1"/>
                          </a:solidFill>
                        </a:rPr>
                        <a:t>Håller fast vid idén.</a:t>
                      </a:r>
                      <a:endParaRPr lang="en-US" sz="22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200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Kolla dig själv: 1.2.1</a:t>
            </a:r>
            <a:endParaRPr lang="en-US" sz="3600" dirty="0"/>
          </a:p>
        </p:txBody>
      </p:sp>
      <p:sp>
        <p:nvSpPr>
          <p:cNvPr id="4" name="Kolla dig själv"/>
          <p:cNvSpPr/>
          <p:nvPr/>
        </p:nvSpPr>
        <p:spPr>
          <a:xfrm>
            <a:off x="548640" y="1554480"/>
            <a:ext cx="11091672" cy="4297680"/>
          </a:xfrm>
          <a:prstGeom prst="roundRect">
            <a:avLst>
              <a:gd name="adj" fmla="val 3191"/>
            </a:avLst>
          </a:prstGeom>
          <a:solidFill>
            <a:schemeClr val="bg2"/>
          </a:solidFill>
          <a:ln w="25400">
            <a:solidFill>
              <a:schemeClr val="accent3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914400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1"/>
                </a:solidFill>
              </a:rPr>
              <a:t>KOLLA DIG SJÄLV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2194560"/>
            <a:ext cx="103601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600" dirty="0">
                <a:solidFill>
                  <a:schemeClr val="tx1"/>
                </a:solidFill>
              </a:rPr>
              <a:t>Vad är skillnaden mellan belägg och åsikt?</a:t>
            </a:r>
            <a:endParaRPr lang="en-US" sz="26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600" dirty="0">
                <a:solidFill>
                  <a:schemeClr val="tx1"/>
                </a:solidFill>
              </a:rPr>
              <a:t>Varför kan man inte pröva ”Det är fel att jaga varg” med bara mätningar?</a:t>
            </a:r>
            <a:endParaRPr lang="en-US" sz="26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600" dirty="0">
                <a:solidFill>
                  <a:schemeClr val="tx1"/>
                </a:solidFill>
              </a:rPr>
              <a:t>Ge två kännetecken på pseudovetenskap.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1.2.2 När forskare ändrat sig</a:t>
            </a:r>
            <a:endParaRPr lang="en-US" sz="44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731520" y="36576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Lektion 2: modeller och forskare som ändrat sig</a:t>
            </a:r>
            <a:endParaRPr lang="en-US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200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Pasteur och svanhalskolven (1861)</a:t>
            </a:r>
            <a:endParaRPr lang="en-US" sz="36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554480"/>
            <a:ext cx="4965192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Många trodde att mikroorganismer uppstod av sig själva.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Kolv A: rakt rör, buljongen blev grumlig.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Kolv B: böjd svanhals, buljongen förblev klar.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Bara en sak skilde: halsens form.</a:t>
            </a:r>
            <a:endParaRPr lang="en-US" sz="2200" dirty="0"/>
          </a:p>
        </p:txBody>
      </p:sp>
      <p:pic>
        <p:nvPicPr>
          <p:cNvPr id="5" name="Image 0" descr="Pasteur och svanhalskolven (1861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71032" y="2067462"/>
            <a:ext cx="5669280" cy="345459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200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Semmelweis och handtvätten</a:t>
            </a:r>
            <a:endParaRPr lang="en-US" sz="36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554480"/>
            <a:ext cx="512064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Läkarnas avdelning: fler mödrar dog.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1847: Kolletschka dog efter skärsår vid obduktion.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Semmelweis krävde handtvätt i klorkalklösning.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Ändå godtogs inte idén.</a:t>
            </a:r>
            <a:endParaRPr lang="en-US" sz="2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035040" y="1463040"/>
          <a:ext cx="557784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200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Marshall, Warren och magsåren</a:t>
            </a:r>
            <a:endParaRPr lang="en-US" sz="36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554480"/>
            <a:ext cx="5879592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Man trodde att stress och livsstil gav magsår.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1982: bakterien Helicobacter pylori upptäcks.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1984: Marshall dricker en bakterieodling.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Magsår botas med antibiotika och syrahämmande medel.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Nobelpriset 2005.</a:t>
            </a:r>
            <a:endParaRPr lang="en-US" sz="2200" dirty="0"/>
          </a:p>
        </p:txBody>
      </p:sp>
      <p:pic>
        <p:nvPicPr>
          <p:cNvPr id="5" name="Image 0" descr="Marshall, Warren och magsåre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85432" y="2418003"/>
            <a:ext cx="4754880" cy="2753514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200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Mönstret</a:t>
            </a:r>
            <a:endParaRPr lang="en-US" sz="3600" dirty="0"/>
          </a:p>
        </p:txBody>
      </p:sp>
      <p:sp>
        <p:nvSpPr>
          <p:cNvPr id="4" name="Kort 1"/>
          <p:cNvSpPr/>
          <p:nvPr/>
        </p:nvSpPr>
        <p:spPr>
          <a:xfrm>
            <a:off x="548640" y="1554480"/>
            <a:ext cx="3514344" cy="3108960"/>
          </a:xfrm>
          <a:prstGeom prst="roundRect">
            <a:avLst>
              <a:gd name="adj" fmla="val 35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Siffra 1"/>
          <p:cNvSpPr/>
          <p:nvPr/>
        </p:nvSpPr>
        <p:spPr>
          <a:xfrm>
            <a:off x="777240" y="178308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423160"/>
            <a:ext cx="3057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Belägg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017520"/>
            <a:ext cx="3057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En undersökning som inte passade den gamla förklaringen.</a:t>
            </a:r>
            <a:endParaRPr lang="en-US" sz="1800" dirty="0"/>
          </a:p>
        </p:txBody>
      </p:sp>
      <p:sp>
        <p:nvSpPr>
          <p:cNvPr id="9" name="Kort 2"/>
          <p:cNvSpPr/>
          <p:nvPr/>
        </p:nvSpPr>
        <p:spPr>
          <a:xfrm>
            <a:off x="4337304" y="1554480"/>
            <a:ext cx="3514344" cy="3108960"/>
          </a:xfrm>
          <a:prstGeom prst="roundRect">
            <a:avLst>
              <a:gd name="adj" fmla="val 35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Siffra 2"/>
          <p:cNvSpPr/>
          <p:nvPr/>
        </p:nvSpPr>
        <p:spPr>
          <a:xfrm>
            <a:off x="4565904" y="178308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65904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4565904" y="2423160"/>
            <a:ext cx="3057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Motstånd</a:t>
            </a:r>
            <a:endParaRPr lang="en-US" sz="2200" dirty="0"/>
          </a:p>
        </p:txBody>
      </p:sp>
      <p:sp>
        <p:nvSpPr>
          <p:cNvPr id="13" name="Text 10"/>
          <p:cNvSpPr txBox="1"/>
          <p:nvPr/>
        </p:nvSpPr>
        <p:spPr>
          <a:xfrm>
            <a:off x="4565904" y="3017520"/>
            <a:ext cx="3057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Det tog tid att övertyga andra.</a:t>
            </a:r>
            <a:endParaRPr lang="en-US" sz="1800" dirty="0"/>
          </a:p>
        </p:txBody>
      </p:sp>
      <p:sp>
        <p:nvSpPr>
          <p:cNvPr id="14" name="Kort 3"/>
          <p:cNvSpPr/>
          <p:nvPr/>
        </p:nvSpPr>
        <p:spPr>
          <a:xfrm>
            <a:off x="8125968" y="1554480"/>
            <a:ext cx="3514344" cy="3108960"/>
          </a:xfrm>
          <a:prstGeom prst="roundRect">
            <a:avLst>
              <a:gd name="adj" fmla="val 35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Siffra 3"/>
          <p:cNvSpPr/>
          <p:nvPr/>
        </p:nvSpPr>
        <p:spPr>
          <a:xfrm>
            <a:off x="8354568" y="1783080"/>
            <a:ext cx="502920" cy="50292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354568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8354568" y="2423160"/>
            <a:ext cx="3057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Ny modell</a:t>
            </a:r>
            <a:endParaRPr lang="en-US" sz="2200" dirty="0"/>
          </a:p>
        </p:txBody>
      </p:sp>
      <p:sp>
        <p:nvSpPr>
          <p:cNvPr id="18" name="Text 15"/>
          <p:cNvSpPr txBox="1"/>
          <p:nvPr/>
        </p:nvSpPr>
        <p:spPr>
          <a:xfrm>
            <a:off x="8354568" y="3017520"/>
            <a:ext cx="3057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Helst en förklaring av hur det fungerar.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548640" y="56235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Forskarvärlden vill ha belägg som kan granskas och upprepas.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200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Kolla dig själv: 1.2.2</a:t>
            </a:r>
            <a:endParaRPr lang="en-US" sz="3600" dirty="0"/>
          </a:p>
        </p:txBody>
      </p:sp>
      <p:sp>
        <p:nvSpPr>
          <p:cNvPr id="4" name="Kolla dig själv"/>
          <p:cNvSpPr/>
          <p:nvPr/>
        </p:nvSpPr>
        <p:spPr>
          <a:xfrm>
            <a:off x="548640" y="1554480"/>
            <a:ext cx="11091672" cy="4297680"/>
          </a:xfrm>
          <a:prstGeom prst="roundRect">
            <a:avLst>
              <a:gd name="adj" fmla="val 3191"/>
            </a:avLst>
          </a:prstGeom>
          <a:solidFill>
            <a:schemeClr val="bg2"/>
          </a:solidFill>
          <a:ln w="25400">
            <a:solidFill>
              <a:schemeClr val="accent3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914400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1"/>
                </a:solidFill>
              </a:rPr>
              <a:t>KOLLA DIG SJÄLV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2194560"/>
            <a:ext cx="103601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600" dirty="0">
                <a:solidFill>
                  <a:schemeClr val="tx1"/>
                </a:solidFill>
              </a:rPr>
              <a:t>Vad visade Pasteurs svanhalskolv?</a:t>
            </a:r>
            <a:endParaRPr lang="en-US" sz="26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600" dirty="0">
                <a:solidFill>
                  <a:schemeClr val="tx1"/>
                </a:solidFill>
              </a:rPr>
              <a:t>Vad var beläggen för Semmelweis idé?</a:t>
            </a:r>
            <a:endParaRPr lang="en-US" sz="26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600" dirty="0">
                <a:solidFill>
                  <a:schemeClr val="tx1"/>
                </a:solidFill>
              </a:rPr>
              <a:t>Varför trodde många inte på honom?</a:t>
            </a:r>
            <a:endParaRPr lang="en-US" sz="26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600" dirty="0">
                <a:solidFill>
                  <a:schemeClr val="tx1"/>
                </a:solidFill>
              </a:rPr>
              <a:t>Vad menas med att en modell är en förenkling? Ge ett exempel.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1.2.3 Söka information och bedöma källor</a:t>
            </a:r>
            <a:endParaRPr lang="en-US" sz="44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731520" y="36576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Lektion 3: källor, källkritik och argument</a:t>
            </a:r>
            <a:endParaRPr lang="en-US" sz="2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200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Typer av källor</a:t>
            </a:r>
            <a:endParaRPr lang="en-US" sz="36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167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3108960"/>
                <a:gridCol w="2926080"/>
                <a:gridCol w="2679192"/>
              </a:tblGrid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Källa</a:t>
                      </a:r>
                      <a:endParaRPr lang="en-US" sz="18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Exempel</a:t>
                      </a:r>
                      <a:endParaRPr lang="en-US" sz="18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Styrka</a:t>
                      </a:r>
                      <a:endParaRPr lang="en-US" sz="18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Se upp med</a:t>
                      </a:r>
                      <a:endParaRPr lang="en-US" sz="18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Myndighet</a:t>
                      </a:r>
                      <a:endParaRPr lang="en-US" sz="18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Folkhälsomyndigheten, 1177</a:t>
                      </a:r>
                      <a:endParaRPr lang="en-US" sz="18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Granskad, oberoende</a:t>
                      </a:r>
                      <a:endParaRPr lang="en-US" sz="18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Allmänt hållen</a:t>
                      </a:r>
                      <a:endParaRPr lang="en-US" sz="18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Forskning</a:t>
                      </a:r>
                      <a:endParaRPr lang="en-US" sz="18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Universitet, artikel</a:t>
                      </a:r>
                      <a:endParaRPr lang="en-US" sz="18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Granskad av experter</a:t>
                      </a:r>
                      <a:endParaRPr lang="en-US" sz="18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En studie räcker inte</a:t>
                      </a:r>
                      <a:endParaRPr lang="en-US" sz="18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Nyhetsmedia</a:t>
                      </a:r>
                      <a:endParaRPr lang="en-US" sz="18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Tidning, tv</a:t>
                      </a:r>
                      <a:endParaRPr lang="en-US" sz="18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Snabb, lättläst</a:t>
                      </a:r>
                      <a:endParaRPr lang="en-US" sz="18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Vinklade rubriker</a:t>
                      </a:r>
                      <a:endParaRPr lang="en-US" sz="18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Sociala medier</a:t>
                      </a:r>
                      <a:endParaRPr lang="en-US" sz="18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Inlägg, video</a:t>
                      </a:r>
                      <a:endParaRPr lang="en-US" sz="18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Nya idéer</a:t>
                      </a:r>
                      <a:endParaRPr lang="en-US" sz="18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Ofta ogranskat</a:t>
                      </a:r>
                      <a:endParaRPr lang="en-US" sz="18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Reklam</a:t>
                      </a:r>
                      <a:endParaRPr lang="en-US" sz="18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Produktsida</a:t>
                      </a:r>
                      <a:endParaRPr lang="en-US" sz="18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Känner produkten</a:t>
                      </a:r>
                      <a:endParaRPr lang="en-US" sz="18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Vill sälja</a:t>
                      </a:r>
                      <a:endParaRPr lang="en-US" sz="18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200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Fyra källkritiska frågor</a:t>
            </a:r>
            <a:endParaRPr lang="en-US" sz="3600" dirty="0"/>
          </a:p>
        </p:txBody>
      </p:sp>
      <p:sp>
        <p:nvSpPr>
          <p:cNvPr id="4" name="Kort 1"/>
          <p:cNvSpPr/>
          <p:nvPr/>
        </p:nvSpPr>
        <p:spPr>
          <a:xfrm>
            <a:off x="548640" y="1554480"/>
            <a:ext cx="2567178" cy="3108960"/>
          </a:xfrm>
          <a:prstGeom prst="roundRect">
            <a:avLst>
              <a:gd name="adj" fmla="val 427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Siffra 1"/>
          <p:cNvSpPr/>
          <p:nvPr/>
        </p:nvSpPr>
        <p:spPr>
          <a:xfrm>
            <a:off x="777240" y="178308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423160"/>
            <a:ext cx="21099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Äkthet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017520"/>
            <a:ext cx="210997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Är källan äkta?</a:t>
            </a:r>
            <a:endParaRPr lang="en-US" sz="1800" dirty="0"/>
          </a:p>
        </p:txBody>
      </p:sp>
      <p:sp>
        <p:nvSpPr>
          <p:cNvPr id="9" name="Kort 2"/>
          <p:cNvSpPr/>
          <p:nvPr/>
        </p:nvSpPr>
        <p:spPr>
          <a:xfrm>
            <a:off x="3390138" y="1554480"/>
            <a:ext cx="2567178" cy="3108960"/>
          </a:xfrm>
          <a:prstGeom prst="roundRect">
            <a:avLst>
              <a:gd name="adj" fmla="val 427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Siffra 2"/>
          <p:cNvSpPr/>
          <p:nvPr/>
        </p:nvSpPr>
        <p:spPr>
          <a:xfrm>
            <a:off x="3618738" y="178308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618738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3618738" y="2423160"/>
            <a:ext cx="21099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Tid</a:t>
            </a:r>
            <a:endParaRPr lang="en-US" sz="2200" dirty="0"/>
          </a:p>
        </p:txBody>
      </p:sp>
      <p:sp>
        <p:nvSpPr>
          <p:cNvPr id="13" name="Text 10"/>
          <p:cNvSpPr txBox="1"/>
          <p:nvPr/>
        </p:nvSpPr>
        <p:spPr>
          <a:xfrm>
            <a:off x="3618738" y="3017520"/>
            <a:ext cx="210997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Hur gammal är den? Är den aktuell?</a:t>
            </a:r>
            <a:endParaRPr lang="en-US" sz="1800" dirty="0"/>
          </a:p>
        </p:txBody>
      </p:sp>
      <p:sp>
        <p:nvSpPr>
          <p:cNvPr id="14" name="Kort 3"/>
          <p:cNvSpPr/>
          <p:nvPr/>
        </p:nvSpPr>
        <p:spPr>
          <a:xfrm>
            <a:off x="6231636" y="1554480"/>
            <a:ext cx="2567178" cy="3108960"/>
          </a:xfrm>
          <a:prstGeom prst="roundRect">
            <a:avLst>
              <a:gd name="adj" fmla="val 427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Siffra 3"/>
          <p:cNvSpPr/>
          <p:nvPr/>
        </p:nvSpPr>
        <p:spPr>
          <a:xfrm>
            <a:off x="6460236" y="1783080"/>
            <a:ext cx="502920" cy="50292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460236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6460236" y="2423160"/>
            <a:ext cx="21099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Beroende</a:t>
            </a:r>
            <a:endParaRPr lang="en-US" sz="2200" dirty="0"/>
          </a:p>
        </p:txBody>
      </p:sp>
      <p:sp>
        <p:nvSpPr>
          <p:cNvPr id="18" name="Text 15"/>
          <p:cNvSpPr txBox="1"/>
          <p:nvPr/>
        </p:nvSpPr>
        <p:spPr>
          <a:xfrm>
            <a:off x="6460236" y="3017520"/>
            <a:ext cx="210997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Var kommer uppgifterna ifrån?</a:t>
            </a:r>
            <a:endParaRPr lang="en-US" sz="1800" dirty="0"/>
          </a:p>
        </p:txBody>
      </p:sp>
      <p:sp>
        <p:nvSpPr>
          <p:cNvPr id="19" name="Kort 4"/>
          <p:cNvSpPr/>
          <p:nvPr/>
        </p:nvSpPr>
        <p:spPr>
          <a:xfrm>
            <a:off x="9073134" y="1554480"/>
            <a:ext cx="2567178" cy="3108960"/>
          </a:xfrm>
          <a:prstGeom prst="roundRect">
            <a:avLst>
              <a:gd name="adj" fmla="val 427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Siffra 4"/>
          <p:cNvSpPr/>
          <p:nvPr/>
        </p:nvSpPr>
        <p:spPr>
          <a:xfrm>
            <a:off x="9301734" y="1783080"/>
            <a:ext cx="502920" cy="50292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9301734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22" name="Text 19"/>
          <p:cNvSpPr txBox="1"/>
          <p:nvPr/>
        </p:nvSpPr>
        <p:spPr>
          <a:xfrm>
            <a:off x="9301734" y="2423160"/>
            <a:ext cx="21099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Tendens</a:t>
            </a:r>
            <a:endParaRPr lang="en-US" sz="2200" dirty="0"/>
          </a:p>
        </p:txBody>
      </p:sp>
      <p:sp>
        <p:nvSpPr>
          <p:cNvPr id="23" name="Text 20"/>
          <p:cNvSpPr txBox="1"/>
          <p:nvPr/>
        </p:nvSpPr>
        <p:spPr>
          <a:xfrm>
            <a:off x="9301734" y="3017520"/>
            <a:ext cx="210997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Vill avsändaren något?</a:t>
            </a:r>
            <a:endParaRPr lang="en-US" sz="1800" dirty="0"/>
          </a:p>
        </p:txBody>
      </p:sp>
      <p:sp>
        <p:nvSpPr>
          <p:cNvPr id="24" name="Text 21"/>
          <p:cNvSpPr txBox="1"/>
          <p:nvPr/>
        </p:nvSpPr>
        <p:spPr>
          <a:xfrm>
            <a:off x="548640" y="56235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Trovärdig = går att lita på. Relevant = passar min fråga.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200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Granska ett inlägg</a:t>
            </a:r>
            <a:endParaRPr lang="en-US" sz="36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554480"/>
            <a:ext cx="5696712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Vem har skrivit det?</a:t>
            </a:r>
            <a:endParaRPr lang="en-US" sz="2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Finns belägg eller bara en berättelse?</a:t>
            </a:r>
            <a:endParaRPr lang="en-US" sz="2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Vill någon sälja något?</a:t>
            </a:r>
            <a:endParaRPr lang="en-US" sz="2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Hur nytt är det?</a:t>
            </a:r>
            <a:endParaRPr lang="en-US" sz="2400" dirty="0"/>
          </a:p>
        </p:txBody>
      </p:sp>
      <p:pic>
        <p:nvPicPr>
          <p:cNvPr id="5" name="Image 0" descr="Granska ett inläg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02552" y="2417080"/>
            <a:ext cx="4937760" cy="27553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200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Så argumenterar du</a:t>
            </a:r>
            <a:endParaRPr lang="en-US" sz="3600" dirty="0"/>
          </a:p>
        </p:txBody>
      </p:sp>
      <p:sp>
        <p:nvSpPr>
          <p:cNvPr id="4" name="Steg 1"/>
          <p:cNvSpPr/>
          <p:nvPr/>
        </p:nvSpPr>
        <p:spPr>
          <a:xfrm>
            <a:off x="548640" y="1581912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15819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1325880" y="1508760"/>
            <a:ext cx="103144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Påstående.</a:t>
            </a:r>
            <a:endParaRPr lang="en-US" sz="2400" dirty="0"/>
          </a:p>
        </p:txBody>
      </p:sp>
      <p:sp>
        <p:nvSpPr>
          <p:cNvPr id="7" name="Steg 2"/>
          <p:cNvSpPr/>
          <p:nvPr/>
        </p:nvSpPr>
        <p:spPr>
          <a:xfrm>
            <a:off x="548640" y="2450592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8640" y="24505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1325880" y="2377440"/>
            <a:ext cx="103144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Belägg: varför?</a:t>
            </a:r>
            <a:endParaRPr lang="en-US" sz="2400" dirty="0"/>
          </a:p>
        </p:txBody>
      </p:sp>
      <p:sp>
        <p:nvSpPr>
          <p:cNvPr id="10" name="Steg 3"/>
          <p:cNvSpPr/>
          <p:nvPr/>
        </p:nvSpPr>
        <p:spPr>
          <a:xfrm>
            <a:off x="548640" y="3319272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48640" y="33192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1325880" y="3246120"/>
            <a:ext cx="103144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Motargument: vad kan någon säga emot?</a:t>
            </a:r>
            <a:endParaRPr lang="en-US" sz="2400" dirty="0"/>
          </a:p>
        </p:txBody>
      </p:sp>
      <p:sp>
        <p:nvSpPr>
          <p:cNvPr id="13" name="Steg 4"/>
          <p:cNvSpPr/>
          <p:nvPr/>
        </p:nvSpPr>
        <p:spPr>
          <a:xfrm>
            <a:off x="548640" y="4187952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48640" y="41879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1325880" y="4114800"/>
            <a:ext cx="103144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Bemöt motargumentet.</a:t>
            </a:r>
            <a:endParaRPr lang="en-US" sz="2400" dirty="0"/>
          </a:p>
        </p:txBody>
      </p:sp>
      <p:sp>
        <p:nvSpPr>
          <p:cNvPr id="16" name="Steg 5"/>
          <p:cNvSpPr/>
          <p:nvPr/>
        </p:nvSpPr>
        <p:spPr>
          <a:xfrm>
            <a:off x="548640" y="5056632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48640" y="50566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5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1325880" y="4983480"/>
            <a:ext cx="103144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Slutsats.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200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Kolla dig själv: 1.2.3</a:t>
            </a:r>
            <a:endParaRPr lang="en-US" sz="3600" dirty="0"/>
          </a:p>
        </p:txBody>
      </p:sp>
      <p:sp>
        <p:nvSpPr>
          <p:cNvPr id="4" name="Kolla dig själv"/>
          <p:cNvSpPr/>
          <p:nvPr/>
        </p:nvSpPr>
        <p:spPr>
          <a:xfrm>
            <a:off x="548640" y="1554480"/>
            <a:ext cx="11091672" cy="4297680"/>
          </a:xfrm>
          <a:prstGeom prst="roundRect">
            <a:avLst>
              <a:gd name="adj" fmla="val 3191"/>
            </a:avLst>
          </a:prstGeom>
          <a:solidFill>
            <a:schemeClr val="bg2"/>
          </a:solidFill>
          <a:ln w="25400">
            <a:solidFill>
              <a:schemeClr val="accent3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914400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1"/>
                </a:solidFill>
              </a:rPr>
              <a:t>KOLLA DIG SJÄLV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2194560"/>
            <a:ext cx="103601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600" dirty="0">
                <a:solidFill>
                  <a:schemeClr val="tx1"/>
                </a:solidFill>
              </a:rPr>
              <a:t>Vad är skillnaden mellan trovärdig och relevant?</a:t>
            </a:r>
            <a:endParaRPr lang="en-US" sz="26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600" dirty="0">
                <a:solidFill>
                  <a:schemeClr val="tx1"/>
                </a:solidFill>
              </a:rPr>
              <a:t>Varför ska man vara försiktig med reklam som källa?</a:t>
            </a:r>
            <a:endParaRPr lang="en-US" sz="26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600" dirty="0">
                <a:solidFill>
                  <a:schemeClr val="tx1"/>
                </a:solidFill>
              </a:rPr>
              <a:t>Granska ett påstående med de fyra kriterierna.</a:t>
            </a:r>
            <a:endParaRPr lang="en-US" sz="26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600" dirty="0">
                <a:solidFill>
                  <a:schemeClr val="tx1"/>
                </a:solidFill>
              </a:rPr>
              <a:t>Skriv ett kort argument med belägg och motargument.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Labb 1.2 Granska ett påstående</a:t>
            </a:r>
            <a:endParaRPr lang="en-US" sz="44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731520" y="36576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Ca 45 min: granska ett påstående med två källor</a:t>
            </a:r>
            <a:endParaRPr lang="en-US" sz="2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200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Så gör du</a:t>
            </a:r>
            <a:endParaRPr lang="en-US" sz="3600" dirty="0"/>
          </a:p>
        </p:txBody>
      </p:sp>
      <p:sp>
        <p:nvSpPr>
          <p:cNvPr id="4" name="Steg 1"/>
          <p:cNvSpPr/>
          <p:nvPr/>
        </p:nvSpPr>
        <p:spPr>
          <a:xfrm>
            <a:off x="548640" y="1581912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15819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1325880" y="1508760"/>
            <a:ext cx="103144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Välj ett påstående.</a:t>
            </a:r>
            <a:endParaRPr lang="en-US" sz="2400" dirty="0"/>
          </a:p>
        </p:txBody>
      </p:sp>
      <p:sp>
        <p:nvSpPr>
          <p:cNvPr id="7" name="Steg 2"/>
          <p:cNvSpPr/>
          <p:nvPr/>
        </p:nvSpPr>
        <p:spPr>
          <a:xfrm>
            <a:off x="548640" y="2450592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8640" y="24505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1325880" y="2377440"/>
            <a:ext cx="103144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Sök med flera sökord. Hitta två källor av olika typ.</a:t>
            </a:r>
            <a:endParaRPr lang="en-US" sz="2400" dirty="0"/>
          </a:p>
        </p:txBody>
      </p:sp>
      <p:sp>
        <p:nvSpPr>
          <p:cNvPr id="10" name="Steg 3"/>
          <p:cNvSpPr/>
          <p:nvPr/>
        </p:nvSpPr>
        <p:spPr>
          <a:xfrm>
            <a:off x="548640" y="3319272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48640" y="33192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1325880" y="3246120"/>
            <a:ext cx="103144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Bedöm äkthet, tid, beroende och tendens.</a:t>
            </a:r>
            <a:endParaRPr lang="en-US" sz="2400" dirty="0"/>
          </a:p>
        </p:txBody>
      </p:sp>
      <p:sp>
        <p:nvSpPr>
          <p:cNvPr id="13" name="Steg 4"/>
          <p:cNvSpPr/>
          <p:nvPr/>
        </p:nvSpPr>
        <p:spPr>
          <a:xfrm>
            <a:off x="548640" y="4187952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48640" y="41879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1325880" y="4114800"/>
            <a:ext cx="103144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Vilken källa litar du mest på? Varför?</a:t>
            </a:r>
            <a:endParaRPr lang="en-US" sz="2400" dirty="0"/>
          </a:p>
        </p:txBody>
      </p:sp>
      <p:sp>
        <p:nvSpPr>
          <p:cNvPr id="16" name="Steg 5"/>
          <p:cNvSpPr/>
          <p:nvPr/>
        </p:nvSpPr>
        <p:spPr>
          <a:xfrm>
            <a:off x="548640" y="5056632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48640" y="50566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5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1325880" y="4983480"/>
            <a:ext cx="103144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Skriv ett argument med belägg och motargument.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200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Mall för granskning</a:t>
            </a:r>
            <a:endParaRPr lang="en-US" sz="36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1672" cy="914400"/>
        </p:xfrm>
        <a:graphic>
          <a:graphicData uri="http://schemas.openxmlformats.org/drawingml/2006/table">
            <a:tbl>
              <a:tblPr/>
              <a:tblGrid>
                <a:gridCol w="3749040"/>
                <a:gridCol w="3657600"/>
                <a:gridCol w="3685032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Fråga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Källa 1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Källa 2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Vem har skrivit?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Varför?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Belägg?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Hur nytt?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Trovärdig?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iologi grön">
  <a:themeElements>
    <a:clrScheme name="Biologi grön">
      <a:dk1>
        <a:srgbClr val="1F2A24"/>
      </a:dk1>
      <a:lt1>
        <a:srgbClr val="FFFFFF"/>
      </a:lt1>
      <a:dk2>
        <a:srgbClr val="245040"/>
      </a:dk2>
      <a:lt2>
        <a:srgbClr val="EAF3EC"/>
      </a:lt2>
      <a:accent1>
        <a:srgbClr val="2F6B4F"/>
      </a:accent1>
      <a:accent2>
        <a:srgbClr val="E0782F"/>
      </a:accent2>
      <a:accent3>
        <a:srgbClr val="4F8A63"/>
      </a:accent3>
      <a:accent4>
        <a:srgbClr val="2B6A8A"/>
      </a:accent4>
      <a:accent5>
        <a:srgbClr val="A8651A"/>
      </a:accent5>
      <a:accent6>
        <a:srgbClr val="B3402F"/>
      </a:accent6>
      <a:hlink>
        <a:srgbClr val="2B6A8A"/>
      </a:hlink>
      <a:folHlink>
        <a:srgbClr val="6B625B"/>
      </a:folHlink>
    </a:clrScheme>
    <a:fontScheme name="Biologi grön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Modeller, källor och argument</dc:title>
  <dc:subject>Biologi åk 7–9</dc:subject>
  <dc:creator>Pluggis</dc:creator>
  <cp:lastModifiedBy>Pluggis</cp:lastModifiedBy>
  <cp:revision>1</cp:revision>
  <dcterms:created xsi:type="dcterms:W3CDTF">2026-10-12T12:52:08Z</dcterms:created>
  <dcterms:modified xsi:type="dcterms:W3CDTF">2026-10-12T12:52:08Z</dcterms:modified>
</cp:coreProperties>
</file>