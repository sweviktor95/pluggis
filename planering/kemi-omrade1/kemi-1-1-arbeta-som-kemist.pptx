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5427244-06de-fc34-8be6-bdc50ec9f3b7}">
          <p14:sldIdLst>
            <p14:sldId id="256"/>
          </p14:sldIdLst>
        </p14:section>
        <p14:section name="Säkerhet och utrustning" id="{09db2f6b-622d-e870-9568-f7fa369f0d54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Från fråga till plan" id="{38739e59-6938-cbcf-ddab-3370d2a82ca5}">
          <p14:sldIdLst>
            <p14:sldId id="263"/>
            <p14:sldId id="264"/>
            <p14:sldId id="265"/>
            <p14:sldId id="266"/>
            <p14:sldId id="267"/>
          </p14:sldIdLst>
        </p14:section>
        <p14:section name="Dokumentera och värdera" id="{8a580ceb-4aff-4cff-5d79-550ae7637ec5}">
          <p14:sldIdLst>
            <p14:sldId id="268"/>
            <p14:sldId id="269"/>
            <p14:sldId id="270"/>
            <p14:sldId id="271"/>
            <p14:sldId id="272"/>
          </p14:sldIdLst>
        </p14:section>
        <p14:section name="Labb 1.1 Brustabletten och temperaturen" id="{7f9605a1-ad5c-a8c9-e2a2-3a568c6bf19b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7A1F1F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7A1F1F"/>
                </a:solidFill>
                <a:latin typeface="+mn-lt"/>
              </a:rPr>
              <a:t>Tid tills tabletten är upplöst (s), påhittade värden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Tid (s)</c:v>
                </c:pt>
              </c:strCache>
            </c:strRef>
          </c:tx>
          <c:spPr>
            <a:solidFill>
              <a:srgbClr val="C959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 °C</c:v>
                  </c:pt>
                  <c:pt idx="1">
                    <c:v>20 °C</c:v>
                  </c:pt>
                  <c:pt idx="2">
                    <c:v>40 °C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152</c:v>
                </c:pt>
                <c:pt idx="1">
                  <c:v>74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1F2A24"/>
                    </a:solidFill>
                    <a:latin typeface="Arial"/>
                  </a:rPr>
                  <a:t>Vattnets temperatur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FC9C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1F2A24"/>
                    </a:solidFill>
                    <a:latin typeface="Arial"/>
                  </a:rPr>
                  <a:t>Tid 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1, delområde 1.1. Några bilder per moment.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Allmänna labbregler är inte kontrollerade mot en enskild källa. Fråga: varför ska man ha skyddsglasögon även med bara vatten?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att regler bara gäller farliga ämnen.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peka ut vad de använder i brustablettförsöket.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Källor: Kemikalieinspektionen via KTH, Alingsås kommun, 1177. Giftinformationen 010-456 67 00 vid mindre bråttom, dygnet runt.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Kapitlet säger inget om vilket håll som ger för högt eller lågt värde. Bildtexten säger bara fel avläsning.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Brustablettförsöket följer med hela delområdet.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eleverna omformulera egna åsiktsfrågor.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eleverna blandar ihop oberoende och beroende. Hjälp: det jag ändrar / det jag mäter.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Hypotesen är en gissning med motivering.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Alla värden i detta avsnitt är påhittade.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Räkna med eleverna: (70 + 78 + 74) / 3 = 74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Exempelvärden. Kurvan sjunker inte lika mycket för varje steg, så tiden är inte rak proportionell mot temperaturen.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Förklaringen med partikelmodellen: partiklarna rör sig snabbare (Scientific American bekräftar liknande resultat, i deras försök cirka 20–30 s i hett och 2–3 minuter i iskallt vatten).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tre glas, mätcylinder, termometer, ur, brustabletter, isvatten, varmt vatten, skyddsglasögon. Använd inte varmare vatten än 40 °C. Förväntat: tiden minskar när temperaturen ökar.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Vanliga fel: vattnet svalnar eller värms under mätningen, olika sätt att stoppa tiden.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Bonuslabben tränar samma arbetssätt på en ny fråga.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1 · Delområde 1.1 Arbeta som kemist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1 · KEMI SOM VETENSKAP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Arbeta som kemist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1.1: säkerhet, fråga och plan, dokumentera och värdera, brustablettförsöket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Säkerhet och utrustning · Från fråga till plan · Dokumentera och värdera · Labb 1.1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Säkerhet och utrustning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Säkert i kemilabbet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Grundregler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Skyddsglasögon hela tiden vid kemikalier eller värme.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Sätt upp långt hår och ha stängda skor.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Smaka, sniffa och drick aldrig. Ät inte i labbet.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Läs hela instruktionen först. Torka upp spill direkt.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Tvätta händerna när du är klar.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Utrustning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Mätcylinder: volym i ml.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Våg: massa i 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Termometer: temperatur i °C.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Bägare, E-kolv och provrör för att blanda och värma.</a:t>
            </a:r>
            <a:endParaRPr lang="en-US" sz="2000" dirty="0"/>
          </a:p>
        </p:txBody>
      </p:sp>
      <p:pic>
        <p:nvPicPr>
          <p:cNvPr id="5" name="Image 0" descr="Utrust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217603"/>
            <a:ext cx="7040880" cy="31543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Faropiktogram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Nio faropiktogram (GHS01–GHS09).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Signalord: Fara (allvarligast) eller Varning.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Etiketten har också faroangivelser och leverantörens kontaktuppgifter.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Misstänkt förgiftning: ring 112 och begär Giftinformationscentralen.</a:t>
            </a:r>
            <a:endParaRPr lang="en-US" sz="2000" dirty="0"/>
          </a:p>
        </p:txBody>
      </p:sp>
      <p:pic>
        <p:nvPicPr>
          <p:cNvPr id="5" name="Image 0" descr="Faropikt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104949"/>
            <a:ext cx="7040880" cy="33796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Läs av rätt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Ögonen i nivå med ytan.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Läs av vid den lägsta delen av menisken.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Samma sätt varje gång.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Skriv värdet med enhet.</a:t>
            </a:r>
            <a:endParaRPr lang="en-US" sz="2200" dirty="0"/>
          </a:p>
        </p:txBody>
      </p:sp>
      <p:pic>
        <p:nvPicPr>
          <p:cNvPr id="5" name="Image 0" descr="Läs av rä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546299"/>
            <a:ext cx="5852160" cy="24969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tre regler i ett kemilabb.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står på en kemikalieetikett?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läser du av en mätcylinder?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gör du vid misstänkt förgiftning?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Från fråga till plan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Från fråga till plan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frågan undersökningsbar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Går inte att undersöka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Går att undersöka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Är brustabletter goda?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Hur påverkar temperaturen hur fort en brustablett löser sig?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Är kemi roligt?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Löser sig socker fortare om man rör om?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Är fläckborttagare bra?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Tar produkt X bort en fläck bättre än bara vatten?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En undersökningsbar fråga kan besvaras med mätning.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Variabler i försöket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Oberoende: temperaturen (5, 20, 40 °C).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Beroende: tiden tills tabletten är upplöst.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Kontrollerade: vattenmängd, tablettsort, glas, omrörning.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Rättvist försök: bara en sak ändras.</a:t>
            </a:r>
            <a:endParaRPr lang="en-US" sz="2000" dirty="0"/>
          </a:p>
        </p:txBody>
      </p:sp>
      <p:pic>
        <p:nvPicPr>
          <p:cNvPr id="5" name="Image 0" descr="Variabler i försö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480462"/>
            <a:ext cx="7040880" cy="2628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Hypotes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Om …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Om vattnet är varmare …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så …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… så löser tabletten sig fortare, …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eftersom …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… eftersom allt rör sig snabbare i varmt vatten.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En hypotes kan visa sig vara fel. Det är också ett resultat.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hypotes?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Skillnaden mellan oberoende och beroende variabel?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ska bara en variabel ändras?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Två kontrollerade variabler i försöket?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Dokumentera och värdera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Dokumentera och värdera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Skriv värdena i en tabell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94560"/>
                <a:gridCol w="2194560"/>
                <a:gridCol w="24048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Temperatur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Försök 1 (s)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Försök 2 (s)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Försök 3 (s)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Medelvärde (s)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 °C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148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148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152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20 °C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40 °C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Påhittade värden. Medelvärde = summan delat med antalet. Rubriker och enheter.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Diagram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 du ändrar (temperatur) på x-axeln.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 du mäter (tid) på y-axeln.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Rubrik, namn och enhet på axlarna.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Ju varmare vatten, desto kortare tid.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35040" y="1463040"/>
          <a:ext cx="5577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Värdera resultatet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Felkälla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Något som gör mätningen osäker: klockan startas sent, termometern läses fel, vattnet svalnar.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Slutsats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Svara på frågan: ju varmare, desto kortare tid. Hypotesen stämde.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Hur säker?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Få mätningar eller stora skillnader ger mindre säkerhet.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Ta inte bort ett värde bara för att det inte passar (fördjupningen tar upp avvikande värden).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upprepar man mätningar?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Räkna medelvärdet av 70, 78 och 74 s.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felkälla?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ska en slutsats innehålla?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1.1 Brustabletten och temperaturen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1.1: brustabletten och temperaturen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så här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Mät upp 2 dl vatten i varje glas.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Gör vattnet cirka 5, 20 och 40 °C. Kontrollera med termometer.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Släpp ner en tablett och starta klockan. Rör inte om.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Stoppa när tabletten är borta. Tre försök per temperatur.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Medelvärde, diagram, slutsats, felkällor.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Frågor att svara på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Tips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Vad ändrade, mätte och höll du lika?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Använd begreppen från momentet Från fråga till plan.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Stämde hypotesen?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Svara med dina medelvärden.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Vilka felkällor fanns?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Hur kan du minska dem?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Bonuslabb finns i lärarhandledningen: sockerbit eller strösocker.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Arbeta som kemist</dc:title>
  <dc:subject>Kemi åk 7–9</dc:subject>
  <dc:creator>Pluggis</dc:creator>
  <cp:lastModifiedBy>Pluggis</cp:lastModifiedBy>
  <cp:revision>1</cp:revision>
  <dcterms:created xsi:type="dcterms:W3CDTF">2026-10-16T06:13:59Z</dcterms:created>
  <dcterms:modified xsi:type="dcterms:W3CDTF">2026-10-16T06:13:59Z</dcterms:modified>
</cp:coreProperties>
</file>