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27d3d25-a7a7-6786-5bbd-da4a611d4717}">
          <p14:sldIdLst>
            <p14:sldId id="256"/>
          </p14:sldIdLst>
        </p14:section>
        <p14:section name="Vad är en kemisk reaktion?" id="{294dcd79-dbb8-7eb4-e882-e43606cd0365}">
          <p14:sldIdLst>
            <p14:sldId id="257"/>
            <p14:sldId id="258"/>
            <p14:sldId id="259"/>
          </p14:sldIdLst>
        </p14:section>
        <p14:section name="Reaktionsformler och oförstörbarhet" id="{a0859848-d4c4-8317-2a1a-7bfe92bd9514}">
          <p14:sldIdLst>
            <p14:sldId id="260"/>
            <p14:sldId id="261"/>
            <p14:sldId id="262"/>
            <p14:sldId id="263"/>
          </p14:sldIdLst>
        </p14:section>
        <p14:section name="Hastighet och energi" id="{1fd21588-3e38-2d35-59e1-da960ac75702}">
          <p14:sldIdLst>
            <p14:sldId id="264"/>
            <p14:sldId id="265"/>
            <p14:sldId id="266"/>
            <p14:sldId id="267"/>
          </p14:sldIdLst>
        </p14:section>
        <p14:section name="Labb 4.2 Massan bevaras" id="{19efae6b-ef6a-d2d0-5f04-d61daa6a022a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4.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hur vet man att något nytt har bildats? Samla förslag.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Färgändring och fällning som tecken är vanliga i läromedel men ingen säker bevisning ensam.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kan massa försvinna? Låt eleverna motivera.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Räkna atomer tillsammans på tavlan.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bevarar vi mat i kyl? Koppla till reaktionshastighet.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med partiklar, inte bara ”det går fortare”.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Mät temperaturen i labben.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ättika, bikarbonat, flaskor, våg, ballong, skyddsglasögon. Använd små mängder och stäng inte hårt. Förväntat: massan minskar i öppet system och är oförändrad i slutet.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Diskutera mätfel och varför ballongen sväller.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4 · Delområde 4.2 Kemiska reaktioner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4 · KEMISKA FÖRENINGAR OCH REAKTIONER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Kemiska reaktioner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4.2: reaktioner, formler, massans bevarande, hastighet och energi, labb: massan bevaras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Vad är en kemisk reaktion? · Reaktionsformler · Hastighet och energi · Labb 4.2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en kemisk reaktion?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Vad är en kemisk reaktion?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Från utgångsämnen till produkter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6850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Utgångsämnen reagerar och produkter bildas.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Atomerna byter partner.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Tecken: gas, temperaturändring, färg, fast ämne, ljus eller lukt.</a:t>
            </a:r>
            <a:endParaRPr lang="en-US" sz="2100" dirty="0"/>
          </a:p>
        </p:txBody>
      </p:sp>
      <p:pic>
        <p:nvPicPr>
          <p:cNvPr id="5" name="Image 0" descr="Från utgångsämnen till produk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2708910"/>
            <a:ext cx="6949440" cy="2171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utgångsämnen och produkter?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tre tecken på reaktion.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händer med atomerna?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Reaktionsformler och oförstörbarhet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Reaktionsformler och oförstörbarhet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Balansera en formel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2 H₂ + O₂ → 2 H₂O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Lika många atomer av varje sort på båda sidor.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Ändra bara talen framför, aldrig talen inne i formlerna.</a:t>
            </a:r>
            <a:endParaRPr lang="en-US" sz="2200" dirty="0"/>
          </a:p>
        </p:txBody>
      </p:sp>
      <p:pic>
        <p:nvPicPr>
          <p:cNvPr id="5" name="Image 0" descr="Balansera en for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680268"/>
            <a:ext cx="6766560" cy="22289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Massans bevarande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Lavoisier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Visade att massan är lika före och efter i ett slutet system.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Öppet system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Gas kan lämna, så den mätta massan minskar.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Slutet system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Massan är oförändrad bortsett från mätfel.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Koppla till ättika och bikarbonat.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Balansera H₂ + Cl₂ → HCl.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minskar massan i en öppen flaska?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säger massans bevarande?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Hastighet och energi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Hastighet och energi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påverkar hastigheten?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Temperatur, koncentration, ytarea och katalysator.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Fler och hårdare krockar ger snabbare reaktion.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Katalysatorn förbrukas inte.</a:t>
            </a:r>
            <a:endParaRPr lang="en-US" sz="2100" dirty="0"/>
          </a:p>
        </p:txBody>
      </p:sp>
      <p:pic>
        <p:nvPicPr>
          <p:cNvPr id="5" name="Image 0" descr="Vad påverkar hastigheten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481251"/>
            <a:ext cx="6766560" cy="26270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Exoterm och endoterm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Exoterm: energi avges, omgivningen blir varmare.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Endoterm: energi tas upp, omgivningen blir kallare.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Ättika och bikarbonat är endoterm.</a:t>
            </a:r>
            <a:endParaRPr lang="en-US" sz="2100" dirty="0"/>
          </a:p>
        </p:txBody>
      </p:sp>
      <p:pic>
        <p:nvPicPr>
          <p:cNvPr id="5" name="Image 0" descr="Exoterm och endote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610612"/>
            <a:ext cx="6766560" cy="23682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två saker som ökar hastigheten.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exoterm och endoterm?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katalysator?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4.2 Massan bevaras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4.2: massan bevaras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så här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3309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Väg flaskan med ättika och bikarbonat före.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Låt reaktionen ske öppet och i slutet system.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Väg efter och jämför.</a:t>
            </a:r>
            <a:endParaRPr lang="en-US" sz="2100" dirty="0"/>
          </a:p>
        </p:txBody>
      </p:sp>
      <p:pic>
        <p:nvPicPr>
          <p:cNvPr id="5" name="Image 0" descr="Gör så hä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2734056"/>
            <a:ext cx="5303520" cy="21214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Frågor att svara på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692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Tips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Varför minskade massan öppet?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Vad lämnade flaskan?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Varför oförändrad i slutet system?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Vart tog gasen vägen?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säker är slutsatsen?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Upprepa och räkna mätfel.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Kemiska reaktioner</dc:title>
  <dc:subject>Kemi åk 7–9</dc:subject>
  <dc:creator>Pluggis</dc:creator>
  <cp:lastModifiedBy>Pluggis</cp:lastModifiedBy>
  <cp:revision>1</cp:revision>
  <dcterms:created xsi:type="dcterms:W3CDTF">2026-10-22T08:31:50Z</dcterms:created>
  <dcterms:modified xsi:type="dcterms:W3CDTF">2026-10-22T08:31:50Z</dcterms:modified>
</cp:coreProperties>
</file>