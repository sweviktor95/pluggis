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art" id="{42bcac25-50da-302c-337d-36ac692a7526}">
          <p14:sldIdLst>
            <p14:sldId id="256"/>
          </p14:sldIdLst>
        </p14:section>
        <p14:section name="Molekyler och kovalent bindning" id="{4cf02664-eb90-e07b-a1fa-130ceefbeff8}">
          <p14:sldIdLst>
            <p14:sldId id="257"/>
            <p14:sldId id="258"/>
            <p14:sldId id="259"/>
            <p14:sldId id="260"/>
          </p14:sldIdLst>
        </p14:section>
        <p14:section name="Joner och jonföreningar" id="{ea243fb3-2f5d-5db3-00d4-c9e471723335}">
          <p14:sldIdLst>
            <p14:sldId id="261"/>
            <p14:sldId id="262"/>
            <p14:sldId id="263"/>
            <p14:sldId id="264"/>
          </p14:sldIdLst>
        </p14:section>
        <p14:section name="Egenskaper hos föreningar" id="{810b01c7-93e8-2c1e-9504-8c0519496b9c}">
          <p14:sldIdLst>
            <p14:sldId id="265"/>
            <p14:sldId id="266"/>
            <p14:sldId id="267"/>
            <p14:sldId id="268"/>
          </p14:sldIdLst>
        </p14:section>
        <p14:section name="Labb 4.1 Leder lösningar elektrisk ström?" id="{c4cc4192-70df-a756-b351-2814d43d7b42}">
          <p14:sldIdLst>
            <p14:sldId id="269"/>
            <p14:sldId id="270"/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Presentationen följer grundtexten i kapitel 4. Anteckningarna innehåller handledning. Allt material är utkast (beta).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Fråga: hur kan två atomer hålla ihop utan att vara laddade? Samla förslag.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Låt eleverna räkna elektroner i yttersta skalet i bilden.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Låt eleverna svara i par eller på whiteboard. Facit finns i lärarversionen av kapitlet.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Fråga: kan en atom vara laddad? Hur skulle det gå till?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Koppla till valenselektroner och ädelgasernas fulla skal från kapitel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Bilden är en förenkling. Verkliga kristaller har många fler joner.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Låt eleverna svara i par eller på whiteboard. Facit finns i lärarversionen av kapitlet.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Fråga: varför smälter salt först vid cirka 800 °C medan socker smälter tidigt?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Förbered labben.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Låt eleverna svara i par eller på whiteboard. Facit finns i lärarversionen av kapitlet.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Material: batteri eller lågspänningskälla, lampa, elektroder, bägare, vatten, salt, socker. Förväntat: saltlösning leder, sockerlösning och rent vatten leder dåligt. Använd skyddsglasögon.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Skölj elektroderna mellan varje prov.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VSNITT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57600"/>
            <a:ext cx="1069848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NEHALL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Kemi · Kapitel 4 · Delområde 4.1 Molekyler och joner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731520" y="146304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chemeClr val="bg2"/>
                </a:solidFill>
              </a:rPr>
              <a:t>KEMI · KAPITEL 4 · KEMISKA FÖRENINGAR OCH REAKTIONER</a:t>
            </a:r>
            <a:endParaRPr lang="en-US" sz="2000" dirty="0"/>
          </a:p>
        </p:txBody>
      </p:sp>
      <p:sp>
        <p:nvSpPr>
          <p:cNvPr id="4" name="Text 1"/>
          <p:cNvSpPr txBox="1"/>
          <p:nvPr/>
        </p:nvSpPr>
        <p:spPr>
          <a:xfrm>
            <a:off x="731520" y="2011680"/>
            <a:ext cx="10698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Molekyler och joner</a:t>
            </a:r>
            <a:endParaRPr lang="en-US" sz="54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393192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bg1"/>
                </a:solidFill>
              </a:rPr>
              <a:t>Delområde 4.1: kovalent bindning, joner, egenskaper, labb: leder lösningar ström?</a:t>
            </a:r>
            <a:endParaRPr lang="en-US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566928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Molekyler och kovalent bindning · Joner och jonföreningar · Egenskaper hos föreningar · Labb 4.1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Molekyler och kovalent bindning</a:t>
            </a:r>
            <a:endParaRPr lang="en-US" sz="44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731520" y="36576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chemeClr val="bg2"/>
                </a:solidFill>
              </a:rPr>
              <a:t>Molekyler och kovalent bindning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200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Atomer som delar elektroner</a:t>
            </a:r>
            <a:endParaRPr lang="en-US" sz="36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554480"/>
            <a:ext cx="3685032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Kovalent bindning: atomerna delar elektronpar.</a:t>
            </a:r>
            <a:endParaRPr lang="en-US" sz="2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Förekommer mellan icke-metaller.</a:t>
            </a:r>
            <a:endParaRPr lang="en-US" sz="2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Vatten, H₂O: syre delar med två väte.</a:t>
            </a:r>
            <a:endParaRPr lang="en-US" sz="2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Metan, CH₄: kol delar med fyra väte.</a:t>
            </a:r>
            <a:endParaRPr lang="en-US" sz="2100" dirty="0"/>
          </a:p>
        </p:txBody>
      </p:sp>
      <p:pic>
        <p:nvPicPr>
          <p:cNvPr id="5" name="Image 0" descr="Atomer som delar elektron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90872" y="2448306"/>
            <a:ext cx="6949440" cy="2692908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Molekylföreningar</a:t>
            </a:r>
            <a:endParaRPr lang="en-US" sz="3600" dirty="0"/>
          </a:p>
        </p:txBody>
      </p:sp>
      <p:sp>
        <p:nvSpPr>
          <p:cNvPr id="3" name="Kort 1"/>
          <p:cNvSpPr/>
          <p:nvPr/>
        </p:nvSpPr>
        <p:spPr>
          <a:xfrm>
            <a:off x="548640" y="1554480"/>
            <a:ext cx="3514344" cy="2926080"/>
          </a:xfrm>
          <a:prstGeom prst="roundRect">
            <a:avLst>
              <a:gd name="adj" fmla="val 37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iffra 1"/>
          <p:cNvSpPr/>
          <p:nvPr/>
        </p:nvSpPr>
        <p:spPr>
          <a:xfrm>
            <a:off x="777240" y="178308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423160"/>
            <a:ext cx="30571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Smält- och kokpunkt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017520"/>
            <a:ext cx="3057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Låga. Många är gaser eller vätskor.</a:t>
            </a:r>
            <a:endParaRPr lang="en-US" sz="1800" dirty="0"/>
          </a:p>
        </p:txBody>
      </p:sp>
      <p:sp>
        <p:nvSpPr>
          <p:cNvPr id="8" name="Kort 2"/>
          <p:cNvSpPr/>
          <p:nvPr/>
        </p:nvSpPr>
        <p:spPr>
          <a:xfrm>
            <a:off x="4337304" y="1554480"/>
            <a:ext cx="3514344" cy="2926080"/>
          </a:xfrm>
          <a:prstGeom prst="roundRect">
            <a:avLst>
              <a:gd name="adj" fmla="val 37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iffra 2"/>
          <p:cNvSpPr/>
          <p:nvPr/>
        </p:nvSpPr>
        <p:spPr>
          <a:xfrm>
            <a:off x="4565904" y="178308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65904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4565904" y="2423160"/>
            <a:ext cx="30571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Ström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4565904" y="3017520"/>
            <a:ext cx="3057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Leder inte, eftersom det saknas fria laddade partiklar.</a:t>
            </a:r>
            <a:endParaRPr lang="en-US" sz="1800" dirty="0"/>
          </a:p>
        </p:txBody>
      </p:sp>
      <p:sp>
        <p:nvSpPr>
          <p:cNvPr id="13" name="Kort 3"/>
          <p:cNvSpPr/>
          <p:nvPr/>
        </p:nvSpPr>
        <p:spPr>
          <a:xfrm>
            <a:off x="8125968" y="1554480"/>
            <a:ext cx="3514344" cy="2926080"/>
          </a:xfrm>
          <a:prstGeom prst="roundRect">
            <a:avLst>
              <a:gd name="adj" fmla="val 37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Siffra 3"/>
          <p:cNvSpPr/>
          <p:nvPr/>
        </p:nvSpPr>
        <p:spPr>
          <a:xfrm>
            <a:off x="8354568" y="1783080"/>
            <a:ext cx="502920" cy="50292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54568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8354568" y="2423160"/>
            <a:ext cx="30571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Lösligt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8354568" y="3017520"/>
            <a:ext cx="3057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Varierar. Socker löser sig men leder ändå inte.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56235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O₂ har en dubbelbindning, två delade elektronpar.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200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Kolla dig själv</a:t>
            </a:r>
            <a:endParaRPr lang="en-US" sz="3600" dirty="0"/>
          </a:p>
        </p:txBody>
      </p:sp>
      <p:sp>
        <p:nvSpPr>
          <p:cNvPr id="4" name="Kolla dig själv"/>
          <p:cNvSpPr/>
          <p:nvPr/>
        </p:nvSpPr>
        <p:spPr>
          <a:xfrm>
            <a:off x="548640" y="1554480"/>
            <a:ext cx="11091672" cy="4297680"/>
          </a:xfrm>
          <a:prstGeom prst="roundRect">
            <a:avLst>
              <a:gd name="adj" fmla="val 3191"/>
            </a:avLst>
          </a:prstGeom>
          <a:solidFill>
            <a:schemeClr val="bg2"/>
          </a:solidFill>
          <a:ln w="25400">
            <a:solidFill>
              <a:schemeClr val="accent3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914400" y="1737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accent1"/>
                </a:solidFill>
              </a:rPr>
              <a:t>KOLLA DIG SJÄLV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2194560"/>
            <a:ext cx="103601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2600" dirty="0">
                <a:solidFill>
                  <a:schemeClr val="tx1"/>
                </a:solidFill>
              </a:rPr>
              <a:t>Vad är en kovalent bindning?</a:t>
            </a:r>
            <a:endParaRPr lang="en-US" sz="26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2600" dirty="0">
                <a:solidFill>
                  <a:schemeClr val="tx1"/>
                </a:solidFill>
              </a:rPr>
              <a:t>Hur många väteatomer binder kol i metan?</a:t>
            </a:r>
            <a:endParaRPr lang="en-US" sz="26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2600" dirty="0">
                <a:solidFill>
                  <a:schemeClr val="tx1"/>
                </a:solidFill>
              </a:rPr>
              <a:t>Varför leder molekylföreningar inte ström?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Joner och jonföreningar</a:t>
            </a:r>
            <a:endParaRPr lang="en-US" sz="44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731520" y="36576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chemeClr val="bg2"/>
                </a:solidFill>
              </a:rPr>
              <a:t>Joner och jonföreningar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200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Natrium och klor blir joner</a:t>
            </a:r>
            <a:endParaRPr lang="en-US" sz="36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554480"/>
            <a:ext cx="3502152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Na avger en elektron och blir Na⁺ (2, 8).</a:t>
            </a:r>
            <a:endParaRPr lang="en-US" sz="2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Cl tar upp en elektron och blir Cl⁻ (2, 8, 8).</a:t>
            </a:r>
            <a:endParaRPr lang="en-US" sz="2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Motsatta laddningar attraherar varandra: jonbindning.</a:t>
            </a:r>
            <a:endParaRPr lang="en-US" sz="2100" dirty="0"/>
          </a:p>
        </p:txBody>
      </p:sp>
      <p:pic>
        <p:nvPicPr>
          <p:cNvPr id="5" name="Image 0" descr="Natrium och klor blir jon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15563" y="1554480"/>
            <a:ext cx="6517178" cy="44805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200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Jonkristall</a:t>
            </a:r>
            <a:endParaRPr lang="en-US" sz="36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554480"/>
            <a:ext cx="4050792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Varje positiv jon omges av negativa och tvärtom.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Mönstret kallas gitter.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Bordssalt, NaCl, är en jonförening.</a:t>
            </a:r>
            <a:endParaRPr lang="en-US" sz="2200" dirty="0"/>
          </a:p>
        </p:txBody>
      </p:sp>
      <p:pic>
        <p:nvPicPr>
          <p:cNvPr id="5" name="Image 0" descr="Jonkristal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56632" y="2390242"/>
            <a:ext cx="6583680" cy="2809037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200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Kolla dig själv</a:t>
            </a:r>
            <a:endParaRPr lang="en-US" sz="3600" dirty="0"/>
          </a:p>
        </p:txBody>
      </p:sp>
      <p:sp>
        <p:nvSpPr>
          <p:cNvPr id="4" name="Kolla dig själv"/>
          <p:cNvSpPr/>
          <p:nvPr/>
        </p:nvSpPr>
        <p:spPr>
          <a:xfrm>
            <a:off x="548640" y="1554480"/>
            <a:ext cx="11091672" cy="4297680"/>
          </a:xfrm>
          <a:prstGeom prst="roundRect">
            <a:avLst>
              <a:gd name="adj" fmla="val 3191"/>
            </a:avLst>
          </a:prstGeom>
          <a:solidFill>
            <a:schemeClr val="bg2"/>
          </a:solidFill>
          <a:ln w="25400">
            <a:solidFill>
              <a:schemeClr val="accent3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914400" y="1737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accent1"/>
                </a:solidFill>
              </a:rPr>
              <a:t>KOLLA DIG SJÄLV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2194560"/>
            <a:ext cx="103601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2600" dirty="0">
                <a:solidFill>
                  <a:schemeClr val="tx1"/>
                </a:solidFill>
              </a:rPr>
              <a:t>Hur blir en natriumatom en jon?</a:t>
            </a:r>
            <a:endParaRPr lang="en-US" sz="26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2600" dirty="0">
                <a:solidFill>
                  <a:schemeClr val="tx1"/>
                </a:solidFill>
              </a:rPr>
              <a:t>Vad är en jonbindning?</a:t>
            </a:r>
            <a:endParaRPr lang="en-US" sz="26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2600" dirty="0">
                <a:solidFill>
                  <a:schemeClr val="tx1"/>
                </a:solidFill>
              </a:rPr>
              <a:t>Hur ser ett jongitter ut?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Egenskaper hos föreningar</a:t>
            </a:r>
            <a:endParaRPr lang="en-US" sz="44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731520" y="36576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chemeClr val="bg2"/>
                </a:solidFill>
              </a:rPr>
              <a:t>Egenskaper hos föreningar</a:t>
            </a:r>
            <a:endParaRPr lang="en-US" sz="2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Jämförelse</a:t>
            </a:r>
            <a:endParaRPr lang="en-US" sz="3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1672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3657600"/>
                <a:gridCol w="3840480"/>
              </a:tblGrid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Egenskap</a:t>
                      </a:r>
                      <a:endParaRPr lang="en-US" sz="20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Jonförening</a:t>
                      </a:r>
                      <a:endParaRPr lang="en-US" sz="20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Molekylförening</a:t>
                      </a:r>
                      <a:endParaRPr lang="en-US" sz="20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Smältpunkt</a:t>
                      </a:r>
                      <a:endParaRPr lang="en-US" sz="20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Hög (NaCl 801 °C)</a:t>
                      </a:r>
                      <a:endParaRPr lang="en-US" sz="20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Låg</a:t>
                      </a:r>
                      <a:endParaRPr lang="en-US" sz="20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Fast ämne leder ström</a:t>
                      </a:r>
                      <a:endParaRPr lang="en-US" sz="20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Nej</a:t>
                      </a:r>
                      <a:endParaRPr lang="en-US" sz="20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Nej</a:t>
                      </a:r>
                      <a:endParaRPr lang="en-US" sz="20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Löst i vatten leder ström</a:t>
                      </a:r>
                      <a:endParaRPr lang="en-US" sz="20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Ja</a:t>
                      </a:r>
                      <a:endParaRPr lang="en-US" sz="20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Oftast nej</a:t>
                      </a:r>
                      <a:endParaRPr lang="en-US" sz="20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Hårdhet</a:t>
                      </a:r>
                      <a:endParaRPr lang="en-US" sz="20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Hård men spröd</a:t>
                      </a:r>
                      <a:endParaRPr lang="en-US" sz="20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Ofta mjuk</a:t>
                      </a:r>
                      <a:endParaRPr lang="en-US" sz="20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57784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Metaller leder som fasta ämnen eftersom de yttersta elektronerna är rörliga.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200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Varför leder saltlösning ström?</a:t>
            </a:r>
            <a:endParaRPr lang="en-US" sz="36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554480"/>
            <a:ext cx="3867912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I fast salt sitter jonerna fast.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I vatten kan jonerna röra sig fritt.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Rörliga laddade partiklar bär strömmen.</a:t>
            </a:r>
            <a:endParaRPr lang="en-US" sz="2200" dirty="0"/>
          </a:p>
        </p:txBody>
      </p:sp>
      <p:pic>
        <p:nvPicPr>
          <p:cNvPr id="5" name="Image 0" descr="Varför leder saltlösning ström?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73752" y="2483739"/>
            <a:ext cx="6766560" cy="262204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200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Kolla dig själv</a:t>
            </a:r>
            <a:endParaRPr lang="en-US" sz="3600" dirty="0"/>
          </a:p>
        </p:txBody>
      </p:sp>
      <p:sp>
        <p:nvSpPr>
          <p:cNvPr id="4" name="Kolla dig själv"/>
          <p:cNvSpPr/>
          <p:nvPr/>
        </p:nvSpPr>
        <p:spPr>
          <a:xfrm>
            <a:off x="548640" y="1554480"/>
            <a:ext cx="11091672" cy="4297680"/>
          </a:xfrm>
          <a:prstGeom prst="roundRect">
            <a:avLst>
              <a:gd name="adj" fmla="val 3191"/>
            </a:avLst>
          </a:prstGeom>
          <a:solidFill>
            <a:schemeClr val="bg2"/>
          </a:solidFill>
          <a:ln w="25400">
            <a:solidFill>
              <a:schemeClr val="accent3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914400" y="1737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accent1"/>
                </a:solidFill>
              </a:rPr>
              <a:t>KOLLA DIG SJÄLV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2194560"/>
            <a:ext cx="103601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2600" dirty="0">
                <a:solidFill>
                  <a:schemeClr val="tx1"/>
                </a:solidFill>
              </a:rPr>
              <a:t>Varför är jonföreningar spröda?</a:t>
            </a:r>
            <a:endParaRPr lang="en-US" sz="26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2600" dirty="0">
                <a:solidFill>
                  <a:schemeClr val="tx1"/>
                </a:solidFill>
              </a:rPr>
              <a:t>Leder fast salt ström?</a:t>
            </a:r>
            <a:endParaRPr lang="en-US" sz="26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2600" dirty="0">
                <a:solidFill>
                  <a:schemeClr val="tx1"/>
                </a:solidFill>
              </a:rPr>
              <a:t>Vad leder ström i en saltlösning?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Labb 4.1 Leder lösningar elektrisk ström?</a:t>
            </a:r>
            <a:endParaRPr lang="en-US" sz="44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731520" y="36576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chemeClr val="bg2"/>
                </a:solidFill>
              </a:rPr>
              <a:t>Labb 4.1: leder lösningar elektrisk ström?</a:t>
            </a:r>
            <a:endParaRPr lang="en-US" sz="2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200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Gör så här</a:t>
            </a:r>
            <a:endParaRPr lang="en-US" sz="36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554480"/>
            <a:ext cx="5330952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Bygg kretsen med lampa och elektroder.</a:t>
            </a:r>
            <a:endParaRPr lang="en-US" sz="2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Testa destillerat vatten, saltlösning och sockerlösning.</a:t>
            </a:r>
            <a:endParaRPr lang="en-US" sz="2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Anteckna om lampan lyser.</a:t>
            </a:r>
            <a:endParaRPr lang="en-US" sz="2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Förklara resultaten med joner och molekyler.</a:t>
            </a:r>
            <a:endParaRPr lang="en-US" sz="2100" dirty="0"/>
          </a:p>
        </p:txBody>
      </p:sp>
      <p:pic>
        <p:nvPicPr>
          <p:cNvPr id="5" name="Image 0" descr="Gör så hä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36792" y="2563586"/>
            <a:ext cx="5303520" cy="2462349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Frågor att svara på</a:t>
            </a:r>
            <a:endParaRPr lang="en-US" sz="36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1672" cy="914400"/>
        </p:xfrm>
        <a:graphic>
          <a:graphicData uri="http://schemas.openxmlformats.org/drawingml/2006/table">
            <a:tbl>
              <a:tblPr/>
              <a:tblGrid>
                <a:gridCol w="5486400"/>
                <a:gridCol w="5669280"/>
              </a:tblGrid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Fråga</a:t>
                      </a:r>
                      <a:endParaRPr lang="en-US" sz="20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Tips</a:t>
                      </a:r>
                      <a:endParaRPr lang="en-US" sz="20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Vilka lösningar ledde ström?</a:t>
                      </a:r>
                      <a:endParaRPr lang="en-US" sz="20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Titta på lampan.</a:t>
                      </a:r>
                      <a:endParaRPr lang="en-US" sz="20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Varför ledde saltlösningen?</a:t>
                      </a:r>
                      <a:endParaRPr lang="en-US" sz="20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Vad finns i den?</a:t>
                      </a:r>
                      <a:endParaRPr lang="en-US" sz="20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Hur säker är din slutsats?</a:t>
                      </a:r>
                      <a:endParaRPr lang="en-US" sz="20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Upprepa och jämför.</a:t>
                      </a:r>
                      <a:endParaRPr lang="en-US" sz="20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Kemi röd">
  <a:themeElements>
    <a:clrScheme name="Kemi röd">
      <a:dk1>
        <a:srgbClr val="1F2A24"/>
      </a:dk1>
      <a:lt1>
        <a:srgbClr val="FFFFFF"/>
      </a:lt1>
      <a:dk2>
        <a:srgbClr val="7A1F1F"/>
      </a:dk2>
      <a:lt2>
        <a:srgbClr val="F7E6E4"/>
      </a:lt2>
      <a:accent1>
        <a:srgbClr val="A8322A"/>
      </a:accent1>
      <a:accent2>
        <a:srgbClr val="E0782F"/>
      </a:accent2>
      <a:accent3>
        <a:srgbClr val="C9594F"/>
      </a:accent3>
      <a:accent4>
        <a:srgbClr val="2B6A8A"/>
      </a:accent4>
      <a:accent5>
        <a:srgbClr val="A8651A"/>
      </a:accent5>
      <a:accent6>
        <a:srgbClr val="B3402F"/>
      </a:accent6>
      <a:hlink>
        <a:srgbClr val="2B6A8A"/>
      </a:hlink>
      <a:folHlink>
        <a:srgbClr val="6B625B"/>
      </a:folHlink>
    </a:clrScheme>
    <a:fontScheme name="Kemi röd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Molekyler och joner</dc:title>
  <dc:subject>Kemi åk 7–9</dc:subject>
  <dc:creator>Pluggis</dc:creator>
  <cp:lastModifiedBy>Pluggis</cp:lastModifiedBy>
  <cp:revision>1</cp:revision>
  <dcterms:created xsi:type="dcterms:W3CDTF">2026-10-22T08:31:50Z</dcterms:created>
  <dcterms:modified xsi:type="dcterms:W3CDTF">2026-10-22T08:31:50Z</dcterms:modified>
</cp:coreProperties>
</file>