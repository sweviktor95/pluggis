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55133dd5-44a8-a83a-991d-5b7b2c8aaf96}">
          <p14:sldIdLst>
            <p14:sldId id="256"/>
          </p14:sldIdLst>
        </p14:section>
        <p14:section name="Vad är ekologi?" id="{eaec7974-d8e6-39b5-5ed5-aab7133b8d24}">
          <p14:sldIdLst>
            <p14:sldId id="257"/>
            <p14:sldId id="258"/>
            <p14:sldId id="259"/>
          </p14:sldIdLst>
        </p14:section>
        <p14:section name="Vad är ett ekosystem?" id="{4a7ed754-67b7-f7fb-3605-3bd50453cf41}">
          <p14:sldIdLst>
            <p14:sldId id="260"/>
            <p14:sldId id="261"/>
            <p14:sldId id="262"/>
            <p14:sldId id="263"/>
          </p14:sldIdLst>
        </p14:section>
        <p14:section name="Producenter, konsumenter och näringsvävar" id="{59beae3b-e522-a8bb-1382-960a99e9889b}">
          <p14:sldIdLst>
            <p14:sldId id="264"/>
            <p14:sldId id="265"/>
            <p14:sldId id="266"/>
            <p14:sldId id="267"/>
            <p14:sldId id="268"/>
          </p14:sldIdLst>
        </p14:section>
        <p14:section name="Energiflöde och biomassa" id="{88001223-22e8-95b9-d5c9-ef143be99fed}">
          <p14:sldIdLst>
            <p14:sldId id="269"/>
            <p14:sldId id="270"/>
            <p14:sldId id="271"/>
            <p14:sldId id="272"/>
          </p14:sldIdLst>
        </p14:section>
        <p14:section name="Labb 4.1 Energi i en näringskedja" id="{a6e19156-c7c3-e68c-20c8-fdceccceaeaa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4, delområde 4.1. Några bilder per moment.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Vad åt du till lunch i dag? Följ maten bakåt ända till solen. Hur många steg blev det?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Ekologi kommer från grekiskans oikos, hus. Låt eleverna placera skolgården på nivåerna.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eleverna räknar bara djuren som ekosystemet. Betona den livlösa miljön.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 exempel för en gädda och en fjällräv.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Jämför två ekosystem: en skillnad och en likhet.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Rita en näringskedja på tavlan tillsammans. Pilen pekar mot den som äter.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Svampar och bakterier är nedbrytare. Daggmaskar och gråsuggor är detritusätare.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pilen ritas åt fel håll.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Yellowstone och vargarna är ett känt men omdiskuterat exempel på kaskadeffekt.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Solen är källan. Energin flödar genom ekosystemet och försvinner som värme.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procent är ett genomsnitt, ofta 5–20 procent.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Fördjupning: i öppet hav kan biomassan vid ett visst tillfälle vara omvänd, eftersom växtplankton omsätts snabbt.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1 000 g ris, våg, fem skålar. Förväntat: 1 000, 100, 10 och 1 g. Vanligt fel: procent och gram blandas ihop.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Svar: 0,1 procent respektive 0,8 procent. Modellen förenklar: djur äter flera sorters föda, procenttalet varierar.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4 · Delområde 4.1 Ekosystem och energi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4 · EKOLOGI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Ekosystem och energi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4.1: ekosystem, näringsvävar, energiflöde och biomassa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Start: Vad är ekologi? · Vad är ett ekosystem? · Producenter, konsumenter och näringsvävar · Energiflöde och biomassa · Labb 4.1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är ekologi?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Start: ekologins nivåer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Ekologi och dess nivåer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Individ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 enda organism, till exempel en hare.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3390138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3618738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873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18738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Population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618738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Alla individer av en art inom ett område.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6231636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60236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Samhälle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460236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Alla populationer av olika arter i området.</a:t>
            </a:r>
            <a:endParaRPr lang="en-US" sz="1800" dirty="0"/>
          </a:p>
        </p:txBody>
      </p:sp>
      <p:sp>
        <p:nvSpPr>
          <p:cNvPr id="19" name="Kort 4"/>
          <p:cNvSpPr/>
          <p:nvPr/>
        </p:nvSpPr>
        <p:spPr>
          <a:xfrm>
            <a:off x="9073134" y="1554480"/>
            <a:ext cx="2567178" cy="3108960"/>
          </a:xfrm>
          <a:prstGeom prst="roundRect">
            <a:avLst>
              <a:gd name="adj" fmla="val 427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iffra 4"/>
          <p:cNvSpPr/>
          <p:nvPr/>
        </p:nvSpPr>
        <p:spPr>
          <a:xfrm>
            <a:off x="9301734" y="17830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0173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01734" y="2423160"/>
            <a:ext cx="21099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Ekosystem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301734" y="3017520"/>
            <a:ext cx="21099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Samhället och den livlösa miljön.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Biosfären är alla ekosystem på jorden tillsammans.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själv: Start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betyder ordet ekologi?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skillnaden mellan en population och ett samhälle?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Ge ett exempel på ett litet och ett stort ekosystem.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Vad är ett ekosystem?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Biotiska och abiotiska faktorer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Två sorters faktorer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540867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Biotiska faktorer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49514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Påverkan från andra levande organismer: föda, rovdjur, konkurrenter, sjukdomar.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6231636" y="1554480"/>
            <a:ext cx="5408676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6460236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60236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60236" y="2423160"/>
            <a:ext cx="49514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Abiotiska faktorer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460236" y="3017520"/>
            <a:ext cx="49514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Påverkan från den livlösa miljön: temperatur, ljus, vatten, näring och vind.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Livsmiljö = platsen där arten lever. Biotop = typ av livsmiljö.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Ekosystem ser olika ut men fungerar likadant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2926080"/>
                <a:gridCol w="29535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Barrskog i Norrbotten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Bottenviken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Tropisk regnskog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Klimat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Kalla vintrar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Kallt bräckt vatten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Varmt och regnigt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Producenter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Tall, gran, bärris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Växtplankton, alger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Höga lövträd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Konsumenter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Älg, lodjur, tjäder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Sik, gädda, säl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Apor, ormar, jaguar</a:t>
                      </a:r>
                      <a:endParaRPr lang="en-US" sz="20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Samma principer: producenter, konsumenter, nedbrytare och kretslopp.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Ge två biotiska och två abiotiska faktorer som påverkar en gädda.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räknas vattnet och solljuset till ekosystemet?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Välj två ekosystem. Beskriv en skillnad och en likhet.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Producenter, konsumenter och näringsvävar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Vem äter vem?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Tre grupper i ekosystemet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Producenter gör egen näring med fotosyntes.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Konsumenter äter andra organismer.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Nedbrytare bryter ner döda växter och djur.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Detritusätare hackar sönder dött material.</a:t>
            </a:r>
            <a:endParaRPr lang="en-US" sz="2200" dirty="0"/>
          </a:p>
        </p:txBody>
      </p:sp>
      <p:pic>
        <p:nvPicPr>
          <p:cNvPr id="5" name="Image 0" descr="Tre grupper i ekosystem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600796"/>
            <a:ext cx="5852160" cy="23879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Näringskedja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5994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Varje steg är ett led.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Pilen pekar mot den som äter, åt samma håll som energin.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Först i kedjan står alltid en producent.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Högst upp: toppkonsument.</a:t>
            </a:r>
            <a:endParaRPr lang="en-US" sz="2200" dirty="0"/>
          </a:p>
        </p:txBody>
      </p:sp>
      <p:pic>
        <p:nvPicPr>
          <p:cNvPr id="5" name="Image 0" descr="Näringskedj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2762895"/>
            <a:ext cx="6035040" cy="206373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Näringsväv och kaskadeffekt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5994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Flera kedjor som hänger ihop.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Tar man bort en art påverkas många.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 förändring som sprider sig genom flera led kallas kaskadeffekt.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Fler kopplingar ger ett stabilare ekosystem.</a:t>
            </a:r>
            <a:endParaRPr lang="en-US" sz="2200" dirty="0"/>
          </a:p>
        </p:txBody>
      </p:sp>
      <p:pic>
        <p:nvPicPr>
          <p:cNvPr id="5" name="Image 0" descr="Näringsväv och kaskadeffek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272" y="2201594"/>
            <a:ext cx="6035040" cy="31863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står alltid en producent först i en näringskedja?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skulle hända i en skog om alla nedbrytare försvann?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Förklara varför en näringsväv visar mer än en näringskedja.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Energiflöde och biomassa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Vart tar energin vägen?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Energin minskar för varje led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Nästan all energi kommer från solen.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Bara cirka 10 procent förs vidare.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Resten blir värme eller hamnar hos nedbrytare.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Därför är näringskedjor korta.</a:t>
            </a:r>
            <a:endParaRPr lang="en-US" sz="2200" dirty="0"/>
          </a:p>
        </p:txBody>
      </p:sp>
      <p:pic>
        <p:nvPicPr>
          <p:cNvPr id="5" name="Image 0" descr="Energin minskar för varje l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728319"/>
            <a:ext cx="5852160" cy="413288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Biomassa</a:t>
            </a:r>
            <a:endParaRPr lang="en-US" sz="3600" dirty="0"/>
          </a:p>
        </p:txBody>
      </p:sp>
      <p:sp>
        <p:nvSpPr>
          <p:cNvPr id="4" name="Siffra"/>
          <p:cNvSpPr/>
          <p:nvPr/>
        </p:nvSpPr>
        <p:spPr>
          <a:xfrm>
            <a:off x="548640" y="1554480"/>
            <a:ext cx="4206240" cy="411480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0116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10 %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7490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av energin förs vidare till nästa led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554480"/>
            <a:ext cx="6428232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Biomassa är vikten av levande organismer, ofta torrvikt.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Den minskar oftast uppåt i kedjan.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Därför finns det fler harar än lodjur.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Växtbaserad mat tar vara på mer av energin.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Varifrån kommer nästan all energi?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Ge två förklaringar till varför energi försvinner mellan leden.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finns det färre rovdjur än växtätare?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menas med biomassa?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4.1 Energi i en näringskedja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Modellspel med ris och skålar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Resultat vid 10 % och 20 %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474720"/>
                <a:gridCol w="350215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Led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Ris (g) vid 10 %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Ris (g) vid 20 %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Producent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1 000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1 000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Växtätare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Rovdjur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chemeClr val="tx1"/>
                          </a:solidFill>
                        </a:rPr>
                        <a:t>Toppkonsument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2200" dirty="0"/>
                    </a:p>
                  </a:txBody>
                  <a:tcPr marL="109728" marR="109728" marT="73152" marB="73152" anchor="ctr">
                    <a:lnL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8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5778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Hur många procent av producenternas energi når toppkonsumenten? Vad förenklar modellen?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Ekosystem och energi</dc:title>
  <dc:subject>Biologi åk 7–9</dc:subject>
  <dc:creator>Pluggis</dc:creator>
  <cp:lastModifiedBy>Pluggis</cp:lastModifiedBy>
  <cp:revision>1</cp:revision>
  <dcterms:created xsi:type="dcterms:W3CDTF">2026-10-12T19:20:24Z</dcterms:created>
  <dcterms:modified xsi:type="dcterms:W3CDTF">2026-10-12T19:20:24Z</dcterms:modified>
</cp:coreProperties>
</file>