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77424d96-2593-ff99-8c88-63f50c2fa390}">
          <p14:sldIdLst>
            <p14:sldId id="256"/>
          </p14:sldIdLst>
        </p14:section>
        <p14:section name="Gener, arter och ekosystem" id="{63faf85d-09dd-21c4-2dd5-4f32fb28d7c9}">
          <p14:sldIdLst>
            <p14:sldId id="257"/>
            <p14:sldId id="258"/>
            <p14:sldId id="259"/>
            <p14:sldId id="260"/>
          </p14:sldIdLst>
        </p14:section>
        <p14:section name="Ekosystemtjänster" id="{3bce8fb3-072a-1979-6bb6-3e1cfaff8d25}">
          <p14:sldIdLst>
            <p14:sldId id="261"/>
            <p14:sldId id="262"/>
            <p14:sldId id="263"/>
            <p14:sldId id="264"/>
          </p14:sldIdLst>
        </p14:section>
        <p14:section name="Hoten mot mångfalden" id="{83d794f2-3e00-2363-9dce-c08f4c51c21d}">
          <p14:sldIdLst>
            <p14:sldId id="265"/>
            <p14:sldId id="266"/>
            <p14:sldId id="267"/>
            <p14:sldId id="268"/>
            <p14:sldId id="269"/>
          </p14:sldIdLst>
        </p14:section>
        <p14:section name="Labb 3.1 Artinventering i en provruta" id="{cf85eeb8-754a-9e35-3c55-9311b87cea59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3, delområde 3.1. Några bilder per moment.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är alla tallar i en skog likadana? Vad skulle det betyda om miljön ändras?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Artrikedom är antalet arter i ett område. En population är alla individer av en art i området.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Irländska potatismöglet: nästan bara en sorts potatis, genetiskt lika plantor. Delvis kontrollerat historiskt faktum.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sortera egna exempel (vandring, bär, bin, jord) i de fyra typerna.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att ekosystemtjänster bara är sådant man kan sälja.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Källa: Our World in Data (kontrollerad). Handpollinering i vissa kinesiska fruktodlingar är ett ofta citerat exempel som inte är källkontrollerat.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Diskutera: vad är skillnaden mellan hotad och rödlistad? Hotad = VU, EN eller 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Antalet bedömda arter ökade från cirka 19 000 till drygt 23 000. Jämför andelar, inte bara antal.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Källa: SVT. Samhällsfrågan om skogen har konstruerade citat som visar olika perspektiv.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fyra pinnar, snöre, tumstock, mobil. Planera på sommarhalvåret. Vanligt fel: rutorna läggs olika, arter räknas dubbelt.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Förväntat: ofta fler arter på ängen, men det beror på plats och årstid. Fler rutor ger säkrare resultat.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3 · Delområde 3.1 Mångfald, hot och ekosystemtjänster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3 · BIOLOGISK MÅNGFALD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Mångfald, hot och ekosystemtjänster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3.1: tre nivåer, ekosystemtjänster, hot och en artinventering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Gener, arter och ekosystem · Ekosystemtjänster · Hoten mot mångfalden · Labb 3.1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Gener, arter och ekosystem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Tre nivåer av mångfald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 nivåer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Gener: variation inom en art.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Arter: variation mellan arter.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Ekosystem: variation mellan livsmiljöer.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Alla tre är viktiga och påverkar varandra.</a:t>
            </a:r>
            <a:endParaRPr lang="en-US" sz="2000" dirty="0"/>
          </a:p>
        </p:txBody>
      </p:sp>
      <p:pic>
        <p:nvPicPr>
          <p:cNvPr id="5" name="Image 0" descr="Tre nivå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408138"/>
            <a:ext cx="7040880" cy="27732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Näringsväv i en barrskog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Producenter, konsumenter och nedbrytare.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Pilarna visar åt vilket håll energin går.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Många arter ger fler reservdelar.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Om sorken blir färre kan räven äta annat.</a:t>
            </a:r>
            <a:endParaRPr lang="en-US" sz="2000" dirty="0"/>
          </a:p>
        </p:txBody>
      </p:sp>
      <p:pic>
        <p:nvPicPr>
          <p:cNvPr id="5" name="Image 0" descr="Näringsväv i en barrsk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101748"/>
            <a:ext cx="7040880" cy="33860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de tre nivåerna och ett exempel på varje.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Förklara vad en art är.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hjälper stor genetisk variation vid ett varmare klimat?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klarar ett artrikt ekosystem störningar bättre?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Ekosystemtjänster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Det naturen gör för oss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Fyra typer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Försörjande: bär, fisk, virke.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Reglerande: pollinering, vattenrening.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Stödjande: bördig jord, fotosyntes.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Kulturella: friluftsliv, fiske.</a:t>
            </a:r>
            <a:endParaRPr lang="en-US" sz="2000" dirty="0"/>
          </a:p>
        </p:txBody>
      </p:sp>
      <p:pic>
        <p:nvPicPr>
          <p:cNvPr id="5" name="Image 0" descr="Fyra ty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480462"/>
            <a:ext cx="7040880" cy="2628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Pollinering</a:t>
            </a:r>
            <a:endParaRPr lang="en-US" sz="3600" dirty="0"/>
          </a:p>
        </p:txBody>
      </p:sp>
      <p:sp>
        <p:nvSpPr>
          <p:cNvPr id="4" name="Siffra"/>
          <p:cNvSpPr/>
          <p:nvPr/>
        </p:nvSpPr>
        <p:spPr>
          <a:xfrm>
            <a:off x="548640" y="1554480"/>
            <a:ext cx="4206240" cy="41148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≈ 75 %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av grödtyperna är beroende av pollinatörer i någon grad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554480"/>
            <a:ext cx="64282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Cirka 35 % av produktionen i ton kommer från sådana grödor.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Utan pollinatörer minskar totalen med några procent, men frukt och bär drabbas hårdast.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Myrar renar vatten och minskar översvämningar.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ett exempel på varje typ av ekosystemtjänst.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kan en myr minska risken för översvämning?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många pollinerare säkrare än en enda art?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Hoten mot mångfalden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Fem hot och en rödlista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 fem hoten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Hot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Exempel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Ändrad markanvändning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skog avverkas, myrar dikas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Överuttag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överfiske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Klimatförändringar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arter måste flytta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Föroreningar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plast, övergödning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Invasiva arter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blomsterlupin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Ordningen följer IPBES 2019: cirka en miljon arter är hotade.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Rödlistan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Antal rödlistade arter i Sverige.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Rödlistan 2025: 23 103 bedömda, 5 217 rödlistade och 2 373 hotade.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Granska kritiskt: fler bedömda arter ger fler rödlistade.</a:t>
            </a:r>
            <a:endParaRPr lang="en-US" sz="2000" dirty="0"/>
          </a:p>
        </p:txBody>
      </p:sp>
      <p:pic>
        <p:nvPicPr>
          <p:cNvPr id="5" name="Image 0" descr="Rödlist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1730070"/>
            <a:ext cx="7040880" cy="41293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Fjällräv och gammal skog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Fjällräven fridlystes 1928.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Runt år 2000 fanns cirka 35–50 vuxna.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Rödräven konkurrerar om mat och lyor.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Garnlav är en signalart för gammal skog.</a:t>
            </a:r>
            <a:endParaRPr lang="en-US" sz="2000" dirty="0"/>
          </a:p>
        </p:txBody>
      </p:sp>
      <p:pic>
        <p:nvPicPr>
          <p:cNvPr id="5" name="Image 0" descr="Fjällräv och gammal sk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1778197"/>
            <a:ext cx="7040880" cy="40331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tre hot och ge exempel.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rödlista?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signalart?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ett argument för och ett emot att avverka gammal skog.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3.1 Artinventering i en provruta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Äng mot gräsmatta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Provruta på 1 m²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Märk ut en ruta på 1 × 1 meter.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Räkna växtarter. Ta bilder och numrera.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Gör tre rutor på varje plats.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Räkna medelvärde för äng och gräsmatta.</a:t>
            </a:r>
            <a:endParaRPr lang="en-US" sz="2000" dirty="0"/>
          </a:p>
        </p:txBody>
      </p:sp>
      <p:pic>
        <p:nvPicPr>
          <p:cNvPr id="5" name="Image 0" descr="Provruta på 1 m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4203" y="1554480"/>
            <a:ext cx="6171337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Mångfald, hot och ekosystemtjänster</dc:title>
  <dc:subject>Biologi åk 7–9</dc:subject>
  <dc:creator>Pluggis</dc:creator>
  <cp:lastModifiedBy>Pluggis</cp:lastModifiedBy>
  <cp:revision>1</cp:revision>
  <dcterms:created xsi:type="dcterms:W3CDTF">2026-10-16T05:33:54Z</dcterms:created>
  <dcterms:modified xsi:type="dcterms:W3CDTF">2026-10-16T05:33:54Z</dcterms:modified>
</cp:coreProperties>
</file>