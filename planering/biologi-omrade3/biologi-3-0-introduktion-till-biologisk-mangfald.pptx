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da6bf71c-8874-cf3a-3fb1-d33492834f75}">
          <p14:sldIdLst>
            <p14:sldId id="256"/>
          </p14:sldIdLst>
        </p14:section>
        <p14:section name="Introduktion till biologisk mångfald" id="{e160703c-4d91-c53e-6388-18c7d807c0d5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Kort startlektion som följer avsnittet Start i grundtexten, före delområde 3.1. Anteckningarna innehåller handledning.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Börja med Fundera-rutan: skriv ner så många arter du kan på två minuter. Jämför och räkna i klassen.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Vanligt fel: att mångfald bara betyder antal arter. Bilden över de tre nivåerna kommer i delområde 3.1.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Siffran drygt två miljoner är osäker, eftersom en del arter har flera namn. Poängen är att ingen vet totalen.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Visa kapitlets två delområden: 3.1 Mångfald, hot och ekosystemtjänster och 3.2 Gruppera och organismvärlden.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svara i par eller på whiteboard. Facit finns i lärarversionen av kapitlet.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VSNITT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NEHAL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Biologi · Kapitel 3 · Introduktion till biologisk mångfald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bg2"/>
                </a:solidFill>
              </a:rPr>
              <a:t>BIOLOGI · KAPITEL 3 · BIOLOGISK MÅNGFALD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01168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Introduktion till biologisk mångfald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3192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Start: hur mycket liv finns det, och vad är mångfald?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Startlektion före delområde 3.1 · Vad är biologisk mångfald? · Tre nivåer · Kapitlets frågor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Introduktion till biologisk mångfald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Start: hur mycket liv finns det?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Biologisk mångfald</a:t>
            </a:r>
            <a:endParaRPr lang="en-US" sz="3600" dirty="0"/>
          </a:p>
        </p:txBody>
      </p:sp>
      <p:sp>
        <p:nvSpPr>
          <p:cNvPr id="4" name="Kort 1"/>
          <p:cNvSpPr/>
          <p:nvPr/>
        </p:nvSpPr>
        <p:spPr>
          <a:xfrm>
            <a:off x="548640" y="1554480"/>
            <a:ext cx="3514344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iffra 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Gener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3057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Variation mellan individer inom en art.</a:t>
            </a:r>
            <a:endParaRPr lang="en-US" sz="1800" dirty="0"/>
          </a:p>
        </p:txBody>
      </p:sp>
      <p:sp>
        <p:nvSpPr>
          <p:cNvPr id="9" name="Kort 2"/>
          <p:cNvSpPr/>
          <p:nvPr/>
        </p:nvSpPr>
        <p:spPr>
          <a:xfrm>
            <a:off x="4337304" y="1554480"/>
            <a:ext cx="3514344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iffra 2"/>
          <p:cNvSpPr/>
          <p:nvPr/>
        </p:nvSpPr>
        <p:spPr>
          <a:xfrm>
            <a:off x="4565904" y="1783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5904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565904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Arter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565904" y="3017520"/>
            <a:ext cx="3057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Variation mellan olika arter.</a:t>
            </a:r>
            <a:endParaRPr lang="en-US" sz="1800" dirty="0"/>
          </a:p>
        </p:txBody>
      </p:sp>
      <p:sp>
        <p:nvSpPr>
          <p:cNvPr id="14" name="Kort 3"/>
          <p:cNvSpPr/>
          <p:nvPr/>
        </p:nvSpPr>
        <p:spPr>
          <a:xfrm>
            <a:off x="8125968" y="1554480"/>
            <a:ext cx="3514344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iffra 3"/>
          <p:cNvSpPr/>
          <p:nvPr/>
        </p:nvSpPr>
        <p:spPr>
          <a:xfrm>
            <a:off x="8354568" y="17830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5456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354568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Ekosystem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354568" y="3017520"/>
            <a:ext cx="3057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Variation mellan livsmiljöer.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Mångfald är mer än antalet arter.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Hur många arter finns det?</a:t>
            </a:r>
            <a:endParaRPr lang="en-US" sz="3600" dirty="0"/>
          </a:p>
        </p:txBody>
      </p:sp>
      <p:sp>
        <p:nvSpPr>
          <p:cNvPr id="4" name="Siffra"/>
          <p:cNvSpPr/>
          <p:nvPr/>
        </p:nvSpPr>
        <p:spPr>
          <a:xfrm>
            <a:off x="548640" y="1554480"/>
            <a:ext cx="4206240" cy="4114800"/>
          </a:xfrm>
          <a:prstGeom prst="roundRect">
            <a:avLst>
              <a:gd name="adj" fmla="val 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2011680"/>
            <a:ext cx="4206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chemeClr val="bg1"/>
                </a:solidFill>
              </a:rPr>
              <a:t>2 miljoner+</a:t>
            </a:r>
            <a:endParaRPr lang="en-US" sz="80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74904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arter är beskrivna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212080" y="1554480"/>
            <a:ext cx="642823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Ingen vet hur många som finns totalt.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Uppskattningarna går från några miljoner till betydligt fler.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De flesta oupptäckta arterna är troligen insekter, svampar och mikroorganismer.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Fem frågor i kapitlet</a:t>
            </a:r>
            <a:endParaRPr lang="en-US" sz="3600" dirty="0"/>
          </a:p>
        </p:txBody>
      </p:sp>
      <p:sp>
        <p:nvSpPr>
          <p:cNvPr id="4" name="Kort 1"/>
          <p:cNvSpPr/>
          <p:nvPr/>
        </p:nvSpPr>
        <p:spPr>
          <a:xfrm>
            <a:off x="548640" y="1554480"/>
            <a:ext cx="1998878" cy="3108960"/>
          </a:xfrm>
          <a:prstGeom prst="roundRect">
            <a:avLst>
              <a:gd name="adj" fmla="val 54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iffra 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15416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Vad är mångfald?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15416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Gener, arter och ekosystem.</a:t>
            </a:r>
            <a:endParaRPr lang="en-US" sz="1800" dirty="0"/>
          </a:p>
        </p:txBody>
      </p:sp>
      <p:sp>
        <p:nvSpPr>
          <p:cNvPr id="9" name="Kort 2"/>
          <p:cNvSpPr/>
          <p:nvPr/>
        </p:nvSpPr>
        <p:spPr>
          <a:xfrm>
            <a:off x="2821838" y="1554480"/>
            <a:ext cx="1998878" cy="3108960"/>
          </a:xfrm>
          <a:prstGeom prst="roundRect">
            <a:avLst>
              <a:gd name="adj" fmla="val 54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iffra 2"/>
          <p:cNvSpPr/>
          <p:nvPr/>
        </p:nvSpPr>
        <p:spPr>
          <a:xfrm>
            <a:off x="3050438" y="1783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5043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050438" y="2423160"/>
            <a:ext cx="15416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Vad gör naturen för oss?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3050438" y="3017520"/>
            <a:ext cx="15416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Ekosystemtjänster.</a:t>
            </a:r>
            <a:endParaRPr lang="en-US" sz="1800" dirty="0"/>
          </a:p>
        </p:txBody>
      </p:sp>
      <p:sp>
        <p:nvSpPr>
          <p:cNvPr id="14" name="Kort 3"/>
          <p:cNvSpPr/>
          <p:nvPr/>
        </p:nvSpPr>
        <p:spPr>
          <a:xfrm>
            <a:off x="5095037" y="1554480"/>
            <a:ext cx="1998878" cy="3108960"/>
          </a:xfrm>
          <a:prstGeom prst="roundRect">
            <a:avLst>
              <a:gd name="adj" fmla="val 54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iffra 3"/>
          <p:cNvSpPr/>
          <p:nvPr/>
        </p:nvSpPr>
        <p:spPr>
          <a:xfrm>
            <a:off x="5323637" y="17830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323637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5323637" y="2423160"/>
            <a:ext cx="15416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Vad hotar mångfalden?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5323637" y="3017520"/>
            <a:ext cx="15416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Hot och rödlistan.</a:t>
            </a:r>
            <a:endParaRPr lang="en-US" sz="1800" dirty="0"/>
          </a:p>
        </p:txBody>
      </p:sp>
      <p:sp>
        <p:nvSpPr>
          <p:cNvPr id="19" name="Kort 4"/>
          <p:cNvSpPr/>
          <p:nvPr/>
        </p:nvSpPr>
        <p:spPr>
          <a:xfrm>
            <a:off x="7368235" y="1554480"/>
            <a:ext cx="1998878" cy="3108960"/>
          </a:xfrm>
          <a:prstGeom prst="roundRect">
            <a:avLst>
              <a:gd name="adj" fmla="val 54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iffra 4"/>
          <p:cNvSpPr/>
          <p:nvPr/>
        </p:nvSpPr>
        <p:spPr>
          <a:xfrm>
            <a:off x="7596835" y="17830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596835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7596835" y="2423160"/>
            <a:ext cx="15416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Hur ordnar vi livet?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7596835" y="3017520"/>
            <a:ext cx="15416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Riken och nycklar.</a:t>
            </a:r>
            <a:endParaRPr lang="en-US" sz="1800" dirty="0"/>
          </a:p>
        </p:txBody>
      </p:sp>
      <p:sp>
        <p:nvSpPr>
          <p:cNvPr id="24" name="Kort 5"/>
          <p:cNvSpPr/>
          <p:nvPr/>
        </p:nvSpPr>
        <p:spPr>
          <a:xfrm>
            <a:off x="9641434" y="1554480"/>
            <a:ext cx="1998878" cy="3108960"/>
          </a:xfrm>
          <a:prstGeom prst="roundRect">
            <a:avLst>
              <a:gd name="adj" fmla="val 54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Siffra 5"/>
          <p:cNvSpPr/>
          <p:nvPr/>
        </p:nvSpPr>
        <p:spPr>
          <a:xfrm>
            <a:off x="9870034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870034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9870034" y="2423160"/>
            <a:ext cx="15416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Hur anpassar sig arter?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9870034" y="3017520"/>
            <a:ext cx="15416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Naturligt urval.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Delområde 3.1 och 3.2.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Kolla dig själv: Start</a:t>
            </a:r>
            <a:endParaRPr lang="en-US" sz="3600" dirty="0"/>
          </a:p>
        </p:txBody>
      </p:sp>
      <p:sp>
        <p:nvSpPr>
          <p:cNvPr id="4" name="Kolla dig själv"/>
          <p:cNvSpPr/>
          <p:nvPr/>
        </p:nvSpPr>
        <p:spPr>
          <a:xfrm>
            <a:off x="548640" y="1554480"/>
            <a:ext cx="11091672" cy="4297680"/>
          </a:xfrm>
          <a:prstGeom prst="roundRect">
            <a:avLst>
              <a:gd name="adj" fmla="val 3191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KOLLA DIG SJÄLV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601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menas med biologisk mångfald?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Varför räcker det inte att räkna antalet arter?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vet forskarna om hur många arter som finns?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ologi grön">
  <a:themeElements>
    <a:clrScheme name="Biologi grön">
      <a:dk1>
        <a:srgbClr val="1F2A24"/>
      </a:dk1>
      <a:lt1>
        <a:srgbClr val="FFFFFF"/>
      </a:lt1>
      <a:dk2>
        <a:srgbClr val="245040"/>
      </a:dk2>
      <a:lt2>
        <a:srgbClr val="EAF3EC"/>
      </a:lt2>
      <a:accent1>
        <a:srgbClr val="2F6B4F"/>
      </a:accent1>
      <a:accent2>
        <a:srgbClr val="E0782F"/>
      </a:accent2>
      <a:accent3>
        <a:srgbClr val="4F8A63"/>
      </a:accent3>
      <a:accent4>
        <a:srgbClr val="2B6A8A"/>
      </a:accent4>
      <a:accent5>
        <a:srgbClr val="A8651A"/>
      </a:accent5>
      <a:accent6>
        <a:srgbClr val="B3402F"/>
      </a:accent6>
      <a:hlink>
        <a:srgbClr val="2B6A8A"/>
      </a:hlink>
      <a:folHlink>
        <a:srgbClr val="6B625B"/>
      </a:folHlink>
    </a:clrScheme>
    <a:fontScheme name="Biologi grö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Introduktion till biologisk mångfald</dc:title>
  <dc:subject>Biologi åk 7–9</dc:subject>
  <dc:creator>Pluggis</dc:creator>
  <cp:lastModifiedBy>Pluggis</cp:lastModifiedBy>
  <cp:revision>1</cp:revision>
  <dcterms:created xsi:type="dcterms:W3CDTF">2026-10-16T05:33:54Z</dcterms:created>
  <dcterms:modified xsi:type="dcterms:W3CDTF">2026-10-16T05:33:54Z</dcterms:modified>
</cp:coreProperties>
</file>