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3eebb1e3-bfa2-dc51-5491-94486075c2e4}">
          <p14:sldIdLst>
            <p14:sldId id="256"/>
          </p14:sldIdLst>
        </p14:section>
        <p14:section name="Rikena" id="{6fec9a50-30af-0ed7-18b5-5eafcb63375f}">
          <p14:sldIdLst>
            <p14:sldId id="257"/>
            <p14:sldId id="258"/>
            <p14:sldId id="259"/>
            <p14:sldId id="260"/>
          </p14:sldIdLst>
        </p14:section>
        <p14:section name="Bestämningsnycklar" id="{50a05109-9dad-3601-7570-8abb025b1e62}">
          <p14:sldIdLst>
            <p14:sldId id="261"/>
            <p14:sldId id="262"/>
            <p14:sldId id="263"/>
          </p14:sldIdLst>
        </p14:section>
        <p14:section name="Anpassningar" id="{a0635811-1982-ab6e-bf96-8670f6f71d15}">
          <p14:sldIdLst>
            <p14:sldId id="264"/>
            <p14:sldId id="265"/>
            <p14:sldId id="266"/>
          </p14:sldIdLst>
        </p14:section>
        <p14:section name="Labb 3.2 Artbestämning med nyckel" id="{b86a1945-813e-6092-378b-07647e937d48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Presentationen följer grundtexten i kapitel 3, delområde 3.2. Några bilder per moment. Anteckningarna innehåller handledning.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är en svamp en växt? Vad skulle man titta på för att avgöra det?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Vanligt fel: att svampar är växter. Mycel är svampens nät av trådar.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Första ordet har stor bokstav och namnet skrivs kursivt.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 fram bild 3.9 och låt eleverna testa nyckeln på ett lövprov eller en bild.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bygga en egen nyckel för tre djur eller tre föremål.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Fråga: varför ser fjällräv och rödräv olika ut? Koppla till miljön.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Pepparfjärilen är förenklad. Vanligt fel: att individer anpassar sig medvetet.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Låt eleverna svara i par eller på whiteboard. Facit finns i lärarversionen av kapitlet.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Material: nyckeln, mobil, papper. Vissa träd (sälg, al) finns inte i nyckeln, och det är en del av övningen.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Förväntat: tall, gran, björk, asp, rönn. Plocka bara löv som redan ligger på marken.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VSNIT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NEHAL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Biologi · Kapitel 3 · Delområde 3.2 Gruppera och organismvärlden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chemeClr val="bg2"/>
                </a:solidFill>
              </a:rPr>
              <a:t>BIOLOGI · KAPITEL 3 · BIOLOGISK MÅNGFALD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01168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Gruppera och organismvärlden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31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Delområde 3.2: riken, bestämningsnycklar, anpassningar och artbestämning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Rikena · Bestämningsnycklar · Anpassningar · Labb 3.2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Rikena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Fem riken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Fem riken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7823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Djur, växter, svampar, bakterier.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Encelliga organismer med cellkärna.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Svampar gör ingen fotosyntes.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Lav: svamp + alg i symbios.</a:t>
            </a:r>
            <a:endParaRPr lang="en-US" sz="2200" dirty="0"/>
          </a:p>
        </p:txBody>
      </p:sp>
      <p:pic>
        <p:nvPicPr>
          <p:cNvPr id="5" name="Image 0" descr="Fem rik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2702357"/>
            <a:ext cx="5852160" cy="218480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Vetenskapligt namn</a:t>
            </a:r>
            <a:endParaRPr lang="en-US" sz="3600" dirty="0"/>
          </a:p>
        </p:txBody>
      </p:sp>
      <p:sp>
        <p:nvSpPr>
          <p:cNvPr id="4" name="Kort 1"/>
          <p:cNvSpPr/>
          <p:nvPr/>
        </p:nvSpPr>
        <p:spPr>
          <a:xfrm>
            <a:off x="548640" y="1554480"/>
            <a:ext cx="3514344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iffra 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Två ord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Släkte och art.</a:t>
            </a:r>
            <a:endParaRPr lang="en-US" sz="1800" dirty="0"/>
          </a:p>
        </p:txBody>
      </p:sp>
      <p:sp>
        <p:nvSpPr>
          <p:cNvPr id="9" name="Kort 2"/>
          <p:cNvSpPr/>
          <p:nvPr/>
        </p:nvSpPr>
        <p:spPr>
          <a:xfrm>
            <a:off x="4337304" y="1554480"/>
            <a:ext cx="3514344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iffra 2"/>
          <p:cNvSpPr/>
          <p:nvPr/>
        </p:nvSpPr>
        <p:spPr>
          <a:xfrm>
            <a:off x="4565904" y="1783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590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565904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Tall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565904" y="301752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Pinus sylvestris</a:t>
            </a:r>
            <a:endParaRPr lang="en-US" sz="1800" dirty="0"/>
          </a:p>
        </p:txBody>
      </p:sp>
      <p:sp>
        <p:nvSpPr>
          <p:cNvPr id="14" name="Kort 3"/>
          <p:cNvSpPr/>
          <p:nvPr/>
        </p:nvSpPr>
        <p:spPr>
          <a:xfrm>
            <a:off x="8125968" y="1554480"/>
            <a:ext cx="3514344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iffra 3"/>
          <p:cNvSpPr/>
          <p:nvPr/>
        </p:nvSpPr>
        <p:spPr>
          <a:xfrm>
            <a:off x="8354568" y="17830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456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354568" y="2423160"/>
            <a:ext cx="3057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Gran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354568" y="3017520"/>
            <a:ext cx="3057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Picea abies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Systemet infördes av Linné på 1700-talet.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Nämn de fem rikena.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skiljer en svamp från en växt?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Hur skrivs ett vetenskapligt namn?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är en lav?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Bestämningsnycklar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Vad heter trädet?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En nyckel för fem träd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7823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Två alternativ i varje steg.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Jämför kännetecken, inte känsla.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Följ valen tills du får ett namn.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Kontrollera i bok eller app.</a:t>
            </a:r>
            <a:endParaRPr lang="en-US" sz="2200" dirty="0"/>
          </a:p>
        </p:txBody>
      </p:sp>
      <p:pic>
        <p:nvPicPr>
          <p:cNvPr id="5" name="Image 0" descr="En nyckel för fem trä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2404872"/>
            <a:ext cx="5852160" cy="277977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är en bestämningsnyckel?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ska nyckeln ha två alternativ i varje steg?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Hitta på ett första steg för gädda, räv och duva.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Anpassningar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Passar bäst – överlever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Naturligt urval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47823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Variation: individer är olika.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Urval: de som passar bäst överlever.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Ärftlighet: draget går i arv.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Draget blir vanligare.</a:t>
            </a:r>
            <a:endParaRPr lang="en-US" sz="2200" dirty="0"/>
          </a:p>
        </p:txBody>
      </p:sp>
      <p:pic>
        <p:nvPicPr>
          <p:cNvPr id="5" name="Image 0" descr="Naturligt urv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2702357"/>
            <a:ext cx="5852160" cy="218480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Kolla dig själv</a:t>
            </a:r>
            <a:endParaRPr lang="en-US" sz="3600" dirty="0"/>
          </a:p>
        </p:txBody>
      </p:sp>
      <p:sp>
        <p:nvSpPr>
          <p:cNvPr id="4" name="Kolla dig själv"/>
          <p:cNvSpPr/>
          <p:nvPr/>
        </p:nvSpPr>
        <p:spPr>
          <a:xfrm>
            <a:off x="548640" y="1554480"/>
            <a:ext cx="11091672" cy="4297680"/>
          </a:xfrm>
          <a:prstGeom prst="roundRect">
            <a:avLst>
              <a:gd name="adj" fmla="val 3191"/>
            </a:avLst>
          </a:prstGeom>
          <a:solidFill>
            <a:schemeClr val="bg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KOLLA DIG SJÄLV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601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Vad är en anpassning?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Förklara naturligt urval med tre ord.</a:t>
            </a:r>
            <a:endParaRPr lang="en-US" sz="2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2600" dirty="0">
                <a:solidFill>
                  <a:schemeClr val="tx1"/>
                </a:solidFill>
              </a:rPr>
              <a:t>Varför är en anpassning ingen sak en individ bestämmer?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Labb 3.2 Artbestämning med nyckel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Träd på skolgården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Så gör ni</a:t>
            </a:r>
            <a:endParaRPr lang="en-US" sz="3600" dirty="0"/>
          </a:p>
        </p:txBody>
      </p:sp>
      <p:sp>
        <p:nvSpPr>
          <p:cNvPr id="4" name="Steg 1"/>
          <p:cNvSpPr/>
          <p:nvPr/>
        </p:nvSpPr>
        <p:spPr>
          <a:xfrm>
            <a:off x="548640" y="158191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5819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50876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Välj ett träd. Ta bilder på trädet, barken och bladen.</a:t>
            </a:r>
            <a:endParaRPr lang="en-US" sz="2400" dirty="0"/>
          </a:p>
        </p:txBody>
      </p:sp>
      <p:sp>
        <p:nvSpPr>
          <p:cNvPr id="7" name="Steg 2"/>
          <p:cNvSpPr/>
          <p:nvPr/>
        </p:nvSpPr>
        <p:spPr>
          <a:xfrm>
            <a:off x="548640" y="245059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37744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Följ nyckeln steg för steg och skriv upp valen.</a:t>
            </a:r>
            <a:endParaRPr lang="en-US" sz="2400" dirty="0"/>
          </a:p>
        </p:txBody>
      </p:sp>
      <p:sp>
        <p:nvSpPr>
          <p:cNvPr id="10" name="Steg 3"/>
          <p:cNvSpPr/>
          <p:nvPr/>
        </p:nvSpPr>
        <p:spPr>
          <a:xfrm>
            <a:off x="548640" y="331927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319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24612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Skriv svenskt och vetenskapligt namn och kontrollera.</a:t>
            </a:r>
            <a:endParaRPr lang="en-US" sz="2400" dirty="0"/>
          </a:p>
        </p:txBody>
      </p:sp>
      <p:sp>
        <p:nvSpPr>
          <p:cNvPr id="13" name="Steg 4"/>
          <p:cNvSpPr/>
          <p:nvPr/>
        </p:nvSpPr>
        <p:spPr>
          <a:xfrm>
            <a:off x="548640" y="418795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411480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Gör likadant med minst fyra träd.</a:t>
            </a:r>
            <a:endParaRPr lang="en-US" sz="2400" dirty="0"/>
          </a:p>
        </p:txBody>
      </p:sp>
      <p:sp>
        <p:nvSpPr>
          <p:cNvPr id="16" name="Steg 5"/>
          <p:cNvSpPr/>
          <p:nvPr/>
        </p:nvSpPr>
        <p:spPr>
          <a:xfrm>
            <a:off x="548640" y="5056632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5056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4983480"/>
            <a:ext cx="10314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Skriv vilket steg som inte stämmer om trädet saknas i nyckeln.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ologi grön">
  <a:themeElements>
    <a:clrScheme name="Biologi grön">
      <a:dk1>
        <a:srgbClr val="1F2A24"/>
      </a:dk1>
      <a:lt1>
        <a:srgbClr val="FFFFFF"/>
      </a:lt1>
      <a:dk2>
        <a:srgbClr val="245040"/>
      </a:dk2>
      <a:lt2>
        <a:srgbClr val="EAF3EC"/>
      </a:lt2>
      <a:accent1>
        <a:srgbClr val="2F6B4F"/>
      </a:accent1>
      <a:accent2>
        <a:srgbClr val="E0782F"/>
      </a:accent2>
      <a:accent3>
        <a:srgbClr val="4F8A63"/>
      </a:accent3>
      <a:accent4>
        <a:srgbClr val="2B6A8A"/>
      </a:accent4>
      <a:accent5>
        <a:srgbClr val="A8651A"/>
      </a:accent5>
      <a:accent6>
        <a:srgbClr val="B3402F"/>
      </a:accent6>
      <a:hlink>
        <a:srgbClr val="2B6A8A"/>
      </a:hlink>
      <a:folHlink>
        <a:srgbClr val="6B625B"/>
      </a:folHlink>
    </a:clrScheme>
    <a:fontScheme name="Biologi grö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Gruppera och organismvärlden</dc:title>
  <dc:subject>Biologi åk 7–9</dc:subject>
  <dc:creator>Pluggis</dc:creator>
  <cp:lastModifiedBy>Pluggis</cp:lastModifiedBy>
  <cp:revision>1</cp:revision>
  <dcterms:created xsi:type="dcterms:W3CDTF">2026-10-15T20:15:31Z</dcterms:created>
  <dcterms:modified xsi:type="dcterms:W3CDTF">2026-10-15T20:15:31Z</dcterms:modified>
</cp:coreProperties>
</file>